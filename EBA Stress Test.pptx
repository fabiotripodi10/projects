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6" r:id="rId2"/>
    <p:sldMasterId id="2147483670" r:id="rId3"/>
  </p:sldMasterIdLst>
  <p:notesMasterIdLst>
    <p:notesMasterId r:id="rId21"/>
  </p:notesMasterIdLst>
  <p:handoutMasterIdLst>
    <p:handoutMasterId r:id="rId22"/>
  </p:handoutMasterIdLst>
  <p:sldIdLst>
    <p:sldId id="256" r:id="rId4"/>
    <p:sldId id="288" r:id="rId5"/>
    <p:sldId id="280" r:id="rId6"/>
    <p:sldId id="302" r:id="rId7"/>
    <p:sldId id="1459" r:id="rId8"/>
    <p:sldId id="1454" r:id="rId9"/>
    <p:sldId id="1472" r:id="rId10"/>
    <p:sldId id="1474" r:id="rId11"/>
    <p:sldId id="1476" r:id="rId12"/>
    <p:sldId id="1478" r:id="rId13"/>
    <p:sldId id="303" r:id="rId14"/>
    <p:sldId id="1461" r:id="rId15"/>
    <p:sldId id="1463" r:id="rId16"/>
    <p:sldId id="1465" r:id="rId17"/>
    <p:sldId id="1467" r:id="rId18"/>
    <p:sldId id="1470" r:id="rId19"/>
    <p:sldId id="145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452"/>
    <a:srgbClr val="006676"/>
    <a:srgbClr val="024654"/>
    <a:srgbClr val="F93B27"/>
    <a:srgbClr val="FF7300"/>
    <a:srgbClr val="6AA84F"/>
    <a:srgbClr val="001E32"/>
    <a:srgbClr val="FF9900"/>
    <a:srgbClr val="EA933B"/>
    <a:srgbClr val="F1E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8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92" y="2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86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954D19-FD35-44E8-86B7-90E3D25DDD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12292-5D83-45D8-8246-31A494D4E2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D3E5B-3B80-487D-8B8D-ED6B886C50BD}" type="datetimeFigureOut">
              <a:rPr lang="en-US" smtClean="0"/>
              <a:t>12/13/23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0F97B-3810-4C79-A70F-E1EED0CCB3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A2D6A-CFF0-4A98-BEF3-4C26B553D6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57E0C-B345-4C76-A706-4ED245B8DD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84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2301F-19DB-43DE-8BE8-B598AB07BC26}" type="datetimeFigureOut">
              <a:rPr lang="en-US" smtClean="0"/>
              <a:t>12/13/23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40C13-4458-439A-B49C-8C0231ABA99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1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bd3cf23c17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bd3cf23c17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s-MX">
                <a:latin typeface="Calibri Light" panose="020F0302020204030204" pitchFamily="34" charset="0"/>
              </a:rPr>
              <a:t>If you want to change the picture background.</a:t>
            </a:r>
          </a:p>
          <a:p>
            <a:pPr>
              <a:spcBef>
                <a:spcPct val="0"/>
              </a:spcBef>
            </a:pPr>
            <a:r>
              <a:rPr lang="en-US" altLang="es-MX">
                <a:latin typeface="Calibri Light" panose="020F0302020204030204" pitchFamily="34" charset="0"/>
              </a:rPr>
              <a:t>1) Select the shape (in front of the image) and send it to back</a:t>
            </a:r>
          </a:p>
          <a:p>
            <a:pPr>
              <a:spcBef>
                <a:spcPct val="0"/>
              </a:spcBef>
            </a:pPr>
            <a:r>
              <a:rPr lang="en-US" altLang="es-MX">
                <a:latin typeface="Calibri Light" panose="020F0302020204030204" pitchFamily="34" charset="0"/>
              </a:rPr>
              <a:t>2) Delete the image and drag and drop you own // 3) Send to back the new image</a:t>
            </a:r>
          </a:p>
        </p:txBody>
      </p:sp>
      <p:sp>
        <p:nvSpPr>
          <p:cNvPr id="706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fld id="{EFC9844B-A883-485B-AC84-494B9DA8FD0C}" type="slidenum">
              <a:rPr lang="en-US" altLang="es-MX" sz="1200">
                <a:latin typeface="Calibri Light" panose="020F0302020204030204" pitchFamily="34" charset="0"/>
              </a:rPr>
              <a:pPr/>
              <a:t>7</a:t>
            </a:fld>
            <a:endParaRPr lang="en-US" altLang="es-MX" sz="120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23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s-MX">
                <a:latin typeface="Calibri Light" panose="020F0302020204030204" pitchFamily="34" charset="0"/>
              </a:rPr>
              <a:t>If you want to change the picture background.</a:t>
            </a:r>
          </a:p>
          <a:p>
            <a:pPr>
              <a:spcBef>
                <a:spcPct val="0"/>
              </a:spcBef>
            </a:pPr>
            <a:r>
              <a:rPr lang="en-US" altLang="es-MX">
                <a:latin typeface="Calibri Light" panose="020F0302020204030204" pitchFamily="34" charset="0"/>
              </a:rPr>
              <a:t>1) Select the shape (in front of the image) and send it to back</a:t>
            </a:r>
          </a:p>
          <a:p>
            <a:pPr>
              <a:spcBef>
                <a:spcPct val="0"/>
              </a:spcBef>
            </a:pPr>
            <a:r>
              <a:rPr lang="en-US" altLang="es-MX">
                <a:latin typeface="Calibri Light" panose="020F0302020204030204" pitchFamily="34" charset="0"/>
              </a:rPr>
              <a:t>2) Delete the image and drag and drop you own // 3) Send to back the new image</a:t>
            </a:r>
          </a:p>
        </p:txBody>
      </p:sp>
      <p:sp>
        <p:nvSpPr>
          <p:cNvPr id="706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fld id="{EFC9844B-A883-485B-AC84-494B9DA8FD0C}" type="slidenum">
              <a:rPr lang="en-US" altLang="es-MX" sz="1200">
                <a:latin typeface="Calibri Light" panose="020F0302020204030204" pitchFamily="34" charset="0"/>
              </a:rPr>
              <a:pPr/>
              <a:t>13</a:t>
            </a:fld>
            <a:endParaRPr lang="en-US" altLang="es-MX" sz="1200">
              <a:latin typeface="Calibri Light" panose="020F03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90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5BC12C-038E-4B31-AA3E-687C3D5D13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02114" y="727603"/>
            <a:ext cx="8270686" cy="29469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57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14B4BF-878C-4981-A810-C7F69890FE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2281" y="1906588"/>
            <a:ext cx="2125388" cy="2125388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942D6561-7E1B-42F2-9A3A-1BD0DCCCEA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2749" y="1906588"/>
            <a:ext cx="2125388" cy="2125388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50C239A6-1A9A-46B0-B690-372C929FF06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3217" y="1906588"/>
            <a:ext cx="2125388" cy="2125388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Marcador de posición de imagen 2">
            <a:extLst>
              <a:ext uri="{FF2B5EF4-FFF2-40B4-BE49-F238E27FC236}">
                <a16:creationId xmlns:a16="http://schemas.microsoft.com/office/drawing/2014/main" id="{30A06651-14F9-42E7-B6E4-A82EA6AE61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04018" y="1906588"/>
            <a:ext cx="2125388" cy="2125388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8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Marcador de posición de imagen 95">
            <a:extLst>
              <a:ext uri="{FF2B5EF4-FFF2-40B4-BE49-F238E27FC236}">
                <a16:creationId xmlns:a16="http://schemas.microsoft.com/office/drawing/2014/main" id="{CAF036A2-DD72-4607-9C46-E99FA5DA72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61846" y="1116940"/>
            <a:ext cx="8203547" cy="522671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9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3">
            <a:extLst>
              <a:ext uri="{FF2B5EF4-FFF2-40B4-BE49-F238E27FC236}">
                <a16:creationId xmlns:a16="http://schemas.microsoft.com/office/drawing/2014/main" id="{8000AEBB-0601-4A7F-A9E3-28E38365B5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298209"/>
            <a:ext cx="6096000" cy="355979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287CE7B-6C67-4DCD-8EC9-131580A7DD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130791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6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E0F1D2CD-45DD-4A88-A5D3-61A6803A98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0700" y="1476375"/>
            <a:ext cx="3086100" cy="3714750"/>
          </a:xfrm>
          <a:prstGeom prst="flowChartAlternateProcess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3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8DBACB0D-817C-44A8-9593-50211A900A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1"/>
            <a:ext cx="3247571" cy="3581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9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41026213-34CC-41CA-9F90-FE6B62220B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31547" y="1146175"/>
            <a:ext cx="3352800" cy="45148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4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Marcador de posición de imagen 115">
            <a:extLst>
              <a:ext uri="{FF2B5EF4-FFF2-40B4-BE49-F238E27FC236}">
                <a16:creationId xmlns:a16="http://schemas.microsoft.com/office/drawing/2014/main" id="{661F7F5F-BB6D-40C4-B1B5-FD7AEDA78D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94650" y="3825875"/>
            <a:ext cx="2133600" cy="29845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7" name="Marcador de posición de imagen 115">
            <a:extLst>
              <a:ext uri="{FF2B5EF4-FFF2-40B4-BE49-F238E27FC236}">
                <a16:creationId xmlns:a16="http://schemas.microsoft.com/office/drawing/2014/main" id="{E152DF87-D010-42AA-BEEB-1B73A09230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52425" y="-113079"/>
            <a:ext cx="2133600" cy="22311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8" name="Marcador de posición de imagen 4">
            <a:extLst>
              <a:ext uri="{FF2B5EF4-FFF2-40B4-BE49-F238E27FC236}">
                <a16:creationId xmlns:a16="http://schemas.microsoft.com/office/drawing/2014/main" id="{8C1491D1-BBBF-4BD7-87AA-A6A90FD215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5400000">
            <a:off x="8923718" y="-1559721"/>
            <a:ext cx="3352800" cy="45148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156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Pa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7048295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63539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907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156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38505"/>
            <a:ext cx="5386917" cy="393214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891863"/>
            <a:ext cx="5386917" cy="437930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338506"/>
            <a:ext cx="5389033" cy="393215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1891861"/>
            <a:ext cx="5389033" cy="437930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>
                    <a:tint val="75000"/>
                  </a:srgbClr>
                </a:solidFill>
              </a:rPr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30D90-B5AE-694C-AF4D-B5392C99196C}" type="slidenum">
              <a:rPr lang="en-US" smtClean="0">
                <a:solidFill>
                  <a:srgbClr val="2F5773"/>
                </a:solidFill>
              </a:rPr>
              <a:pPr/>
              <a:t>‹N›</a:t>
            </a:fld>
            <a:endParaRPr lang="en-US">
              <a:solidFill>
                <a:srgbClr val="2F57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97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023325"/>
      </p:ext>
    </p:extLst>
  </p:cSld>
  <p:clrMapOvr>
    <a:masterClrMapping/>
  </p:clrMapOvr>
  <p:transition advClick="0" advTm="300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9497866" y="3927068"/>
            <a:ext cx="2139233" cy="30310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185" name="Google Shape;185;p8"/>
          <p:cNvSpPr/>
          <p:nvPr/>
        </p:nvSpPr>
        <p:spPr>
          <a:xfrm>
            <a:off x="11215400" y="2222067"/>
            <a:ext cx="1032433" cy="145103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186" name="Google Shape;186;p8"/>
          <p:cNvSpPr/>
          <p:nvPr/>
        </p:nvSpPr>
        <p:spPr>
          <a:xfrm>
            <a:off x="8756164" y="3996999"/>
            <a:ext cx="1125413" cy="120725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187" name="Google Shape;187;p8"/>
          <p:cNvSpPr/>
          <p:nvPr/>
        </p:nvSpPr>
        <p:spPr>
          <a:xfrm>
            <a:off x="10269901" y="1259565"/>
            <a:ext cx="922689" cy="118584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188" name="Google Shape;188;p8"/>
          <p:cNvSpPr/>
          <p:nvPr/>
        </p:nvSpPr>
        <p:spPr>
          <a:xfrm>
            <a:off x="11310055" y="4762234"/>
            <a:ext cx="576332" cy="8915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189" name="Google Shape;189;p8"/>
          <p:cNvSpPr/>
          <p:nvPr/>
        </p:nvSpPr>
        <p:spPr>
          <a:xfrm>
            <a:off x="10608768" y="-196166"/>
            <a:ext cx="1291553" cy="192915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190" name="Google Shape;190;p8"/>
          <p:cNvSpPr/>
          <p:nvPr/>
        </p:nvSpPr>
        <p:spPr>
          <a:xfrm>
            <a:off x="10033036" y="-64895"/>
            <a:ext cx="576333" cy="79678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191" name="Google Shape;191;p8"/>
          <p:cNvSpPr/>
          <p:nvPr/>
        </p:nvSpPr>
        <p:spPr>
          <a:xfrm>
            <a:off x="9537934" y="1600199"/>
            <a:ext cx="448033" cy="8274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192" name="Google Shape;192;p8"/>
          <p:cNvSpPr/>
          <p:nvPr/>
        </p:nvSpPr>
        <p:spPr>
          <a:xfrm>
            <a:off x="10033033" y="2284001"/>
            <a:ext cx="1475200" cy="19974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193" name="Google Shape;193;p8"/>
          <p:cNvSpPr/>
          <p:nvPr/>
        </p:nvSpPr>
        <p:spPr>
          <a:xfrm rot="-5400000">
            <a:off x="9556669" y="1191237"/>
            <a:ext cx="752800" cy="5932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70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4" name="Google Shape;194;p8"/>
          <p:cNvSpPr/>
          <p:nvPr/>
        </p:nvSpPr>
        <p:spPr>
          <a:xfrm rot="5400000">
            <a:off x="11274633" y="6107933"/>
            <a:ext cx="647200" cy="4464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70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5" name="Google Shape;195;p8"/>
          <p:cNvSpPr/>
          <p:nvPr/>
        </p:nvSpPr>
        <p:spPr>
          <a:xfrm>
            <a:off x="9735467" y="3237190"/>
            <a:ext cx="395196" cy="55953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196" name="Google Shape;196;p8"/>
          <p:cNvSpPr/>
          <p:nvPr/>
        </p:nvSpPr>
        <p:spPr>
          <a:xfrm>
            <a:off x="11557638" y="1318342"/>
            <a:ext cx="472671" cy="56423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97" name="Google Shape;197;p8"/>
          <p:cNvSpPr/>
          <p:nvPr/>
        </p:nvSpPr>
        <p:spPr>
          <a:xfrm>
            <a:off x="11685200" y="4170657"/>
            <a:ext cx="372899" cy="38560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98" name="Google Shape;198;p8"/>
          <p:cNvSpPr/>
          <p:nvPr/>
        </p:nvSpPr>
        <p:spPr>
          <a:xfrm>
            <a:off x="9644522" y="2601283"/>
            <a:ext cx="315655" cy="3856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99" name="Google Shape;199;p8"/>
          <p:cNvSpPr/>
          <p:nvPr/>
        </p:nvSpPr>
        <p:spPr>
          <a:xfrm>
            <a:off x="9082541" y="-116606"/>
            <a:ext cx="869959" cy="120726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200" name="Google Shape;200;p8"/>
          <p:cNvSpPr/>
          <p:nvPr/>
        </p:nvSpPr>
        <p:spPr>
          <a:xfrm>
            <a:off x="10216836" y="883097"/>
            <a:ext cx="116963" cy="28888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201" name="Google Shape;201;p8"/>
          <p:cNvSpPr/>
          <p:nvPr/>
        </p:nvSpPr>
        <p:spPr>
          <a:xfrm>
            <a:off x="9323736" y="5145737"/>
            <a:ext cx="219200" cy="30043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202" name="Google Shape;202;p8"/>
          <p:cNvSpPr/>
          <p:nvPr/>
        </p:nvSpPr>
        <p:spPr>
          <a:xfrm>
            <a:off x="9196533" y="972568"/>
            <a:ext cx="315633" cy="45938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203" name="Google Shape;203;p8"/>
          <p:cNvSpPr/>
          <p:nvPr/>
        </p:nvSpPr>
        <p:spPr>
          <a:xfrm>
            <a:off x="11901258" y="5421685"/>
            <a:ext cx="315633" cy="40564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2400"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204" name="Google Shape;204;p8"/>
          <p:cNvSpPr txBox="1">
            <a:spLocks noGrp="1"/>
          </p:cNvSpPr>
          <p:nvPr>
            <p:ph type="title"/>
          </p:nvPr>
        </p:nvSpPr>
        <p:spPr>
          <a:xfrm>
            <a:off x="981167" y="1041200"/>
            <a:ext cx="7889600" cy="93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8"/>
          <p:cNvSpPr txBox="1">
            <a:spLocks noGrp="1"/>
          </p:cNvSpPr>
          <p:nvPr>
            <p:ph type="sldNum" idx="12"/>
          </p:nvPr>
        </p:nvSpPr>
        <p:spPr>
          <a:xfrm>
            <a:off x="101600" y="53233"/>
            <a:ext cx="731600" cy="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58872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38505"/>
            <a:ext cx="5386917" cy="393214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891863"/>
            <a:ext cx="5386917" cy="437930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338506"/>
            <a:ext cx="5389033" cy="393215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1891861"/>
            <a:ext cx="5389033" cy="437930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>
                    <a:tint val="75000"/>
                  </a:srgbClr>
                </a:solidFill>
              </a:rPr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30D90-B5AE-694C-AF4D-B5392C99196C}" type="slidenum">
              <a:rPr lang="en-US" smtClean="0">
                <a:solidFill>
                  <a:srgbClr val="2F5773"/>
                </a:solidFill>
              </a:rPr>
              <a:pPr/>
              <a:t>‹N›</a:t>
            </a:fld>
            <a:endParaRPr lang="en-US">
              <a:solidFill>
                <a:srgbClr val="2F57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356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123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38807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144934"/>
      </p:ext>
    </p:extLst>
  </p:cSld>
  <p:clrMapOvr>
    <a:masterClrMapping/>
  </p:clrMapOvr>
  <p:transition advClick="0" advTm="3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free-powerpoint-templates-download.com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hyperlink" Target="http://free-powerpoint-templates-download.com/" TargetMode="External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1BBCB5-5864-4A69-9045-24BC74A51B0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06282"/>
            <a:ext cx="1555777" cy="110628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4E3BFB7-174F-465B-B095-80C5C63D6E8E}"/>
              </a:ext>
            </a:extLst>
          </p:cNvPr>
          <p:cNvSpPr txBox="1"/>
          <p:nvPr userDrawn="1"/>
        </p:nvSpPr>
        <p:spPr>
          <a:xfrm>
            <a:off x="1555777" y="-423761"/>
            <a:ext cx="5134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15"/>
              </a:rPr>
              <a:t>http://free-powerpoint-templates-download.com/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601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49" r:id="rId3"/>
    <p:sldLayoutId id="2147483650" r:id="rId4"/>
    <p:sldLayoutId id="2147483654" r:id="rId5"/>
    <p:sldLayoutId id="2147483653" r:id="rId6"/>
    <p:sldLayoutId id="2147483661" r:id="rId7"/>
    <p:sldLayoutId id="2147483659" r:id="rId8"/>
    <p:sldLayoutId id="2147483664" r:id="rId9"/>
    <p:sldLayoutId id="2147483666" r:id="rId10"/>
    <p:sldLayoutId id="2147483668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1BBCB5-5864-4A69-9045-24BC74A51B0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06282"/>
            <a:ext cx="1555777" cy="110628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4E3BFB7-174F-465B-B095-80C5C63D6E8E}"/>
              </a:ext>
            </a:extLst>
          </p:cNvPr>
          <p:cNvSpPr txBox="1"/>
          <p:nvPr userDrawn="1"/>
        </p:nvSpPr>
        <p:spPr>
          <a:xfrm>
            <a:off x="1555777" y="-423761"/>
            <a:ext cx="5134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8"/>
              </a:rPr>
              <a:t>http://free-powerpoint-templates-download.com/</a:t>
            </a:r>
          </a:p>
        </p:txBody>
      </p:sp>
    </p:spTree>
    <p:extLst>
      <p:ext uri="{BB962C8B-B14F-4D97-AF65-F5344CB8AC3E}">
        <p14:creationId xmlns:p14="http://schemas.microsoft.com/office/powerpoint/2010/main" val="291601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7" r:id="rId3"/>
    <p:sldLayoutId id="2147483678" r:id="rId4"/>
    <p:sldLayoutId id="214748368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86829"/>
            <a:ext cx="8884745" cy="55507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0347"/>
            <a:ext cx="10972800" cy="4900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498898"/>
            <a:ext cx="6560791" cy="222579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srgbClr val="000000">
                    <a:tint val="75000"/>
                  </a:srgbClr>
                </a:solidFill>
              </a:rPr>
              <a:t>PRESENTATION TITLE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5379" y="6498898"/>
            <a:ext cx="1037021" cy="22257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03930D90-B5AE-694C-AF4D-B5392C99196C}" type="slidenum">
              <a:rPr lang="en-US" smtClean="0">
                <a:solidFill>
                  <a:srgbClr val="2F5773"/>
                </a:solidFill>
              </a:rPr>
              <a:pPr/>
              <a:t>‹N›</a:t>
            </a:fld>
            <a:endParaRPr lang="en-US" dirty="0">
              <a:solidFill>
                <a:srgbClr val="2F5773"/>
              </a:solidFill>
            </a:endParaRPr>
          </a:p>
        </p:txBody>
      </p:sp>
      <p:pic>
        <p:nvPicPr>
          <p:cNvPr id="7" name="Picture 6" descr="EBA-logo-full-colour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792" y="388507"/>
            <a:ext cx="1465609" cy="407353"/>
          </a:xfrm>
          <a:prstGeom prst="rect">
            <a:avLst/>
          </a:prstGeom>
        </p:spPr>
      </p:pic>
      <p:pic>
        <p:nvPicPr>
          <p:cNvPr id="8" name="Picture 7" descr="EBA-logo-full-colour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792" y="388507"/>
            <a:ext cx="1465609" cy="407353"/>
          </a:xfrm>
          <a:prstGeom prst="rect">
            <a:avLst/>
          </a:prstGeom>
        </p:spPr>
      </p:pic>
      <p:pic>
        <p:nvPicPr>
          <p:cNvPr id="9" name="Picture 8" descr="EBA-logo-full-colour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792" y="388507"/>
            <a:ext cx="1465609" cy="407353"/>
          </a:xfrm>
          <a:prstGeom prst="rect">
            <a:avLst/>
          </a:prstGeom>
        </p:spPr>
      </p:pic>
      <p:pic>
        <p:nvPicPr>
          <p:cNvPr id="10" name="Picture 9" descr="EBA-logo-full-colour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792" y="388507"/>
            <a:ext cx="1465609" cy="407353"/>
          </a:xfrm>
          <a:prstGeom prst="rect">
            <a:avLst/>
          </a:prstGeom>
        </p:spPr>
      </p:pic>
      <p:pic>
        <p:nvPicPr>
          <p:cNvPr id="11" name="Picture 10" descr="EBA-logo-full-colour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792" y="388507"/>
            <a:ext cx="1465609" cy="40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2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9" r:id="rId2"/>
    <p:sldLayoutId id="2147483680" r:id="rId3"/>
    <p:sldLayoutId id="2147483681" r:id="rId4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800" u="none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05000"/>
        </a:lnSpc>
        <a:spcBef>
          <a:spcPts val="1200"/>
        </a:spcBef>
        <a:buFontTx/>
        <a:buNone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230400" indent="-230400" algn="l" defTabSz="457200" rtl="0" eaLnBrk="1" latinLnBrk="0" hangingPunct="1">
        <a:lnSpc>
          <a:spcPct val="105000"/>
        </a:lnSpc>
        <a:spcBef>
          <a:spcPts val="12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20000" indent="-228600" algn="l" defTabSz="457200" rtl="0" eaLnBrk="1" latinLnBrk="0" hangingPunct="1">
        <a:spcBef>
          <a:spcPts val="500"/>
        </a:spcBef>
        <a:buClr>
          <a:schemeClr val="tx2"/>
        </a:buClr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80000" indent="-228600" algn="l" defTabSz="457200" rtl="0" eaLnBrk="1" latinLnBrk="0" hangingPunct="1">
        <a:spcBef>
          <a:spcPts val="500"/>
        </a:spcBef>
        <a:buClr>
          <a:schemeClr val="bg2"/>
        </a:buClr>
        <a:buSzPct val="55000"/>
        <a:buFont typeface="Wingdings 3" charset="2"/>
        <a:buChar char="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440000" marR="0" indent="-285750" algn="l" defTabSz="4572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>
          <a:schemeClr val="accent2"/>
        </a:buClr>
        <a:buSzPct val="100000"/>
        <a:buFont typeface="Wingdings" charset="2"/>
        <a:buChar char="§"/>
        <a:tabLst/>
        <a:defRPr sz="16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jp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jp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3000"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ángulo 62">
            <a:extLst>
              <a:ext uri="{FF2B5EF4-FFF2-40B4-BE49-F238E27FC236}">
                <a16:creationId xmlns:a16="http://schemas.microsoft.com/office/drawing/2014/main" id="{7D7B91F0-1B65-4867-9F83-34F8EC50E67E}"/>
              </a:ext>
            </a:extLst>
          </p:cNvPr>
          <p:cNvSpPr/>
          <p:nvPr/>
        </p:nvSpPr>
        <p:spPr>
          <a:xfrm flipV="1">
            <a:off x="0" y="-136477"/>
            <a:ext cx="12184063" cy="142828"/>
          </a:xfrm>
          <a:prstGeom prst="rect">
            <a:avLst/>
          </a:prstGeom>
          <a:solidFill>
            <a:srgbClr val="F1EF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13">
            <a:extLst>
              <a:ext uri="{FF2B5EF4-FFF2-40B4-BE49-F238E27FC236}">
                <a16:creationId xmlns:a16="http://schemas.microsoft.com/office/drawing/2014/main" id="{8C08CBB3-8948-44FC-86F1-EAC83042A0D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3919" y="22"/>
            <a:ext cx="12196137" cy="6871298"/>
            <a:chOff x="5" y="-3"/>
            <a:chExt cx="7071" cy="4546"/>
          </a:xfr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grpSpPr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183727D3-C490-4AE2-8A50-6005CB43A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" y="4"/>
              <a:ext cx="7064" cy="4318"/>
            </a:xfrm>
            <a:custGeom>
              <a:avLst/>
              <a:gdLst>
                <a:gd name="T0" fmla="*/ 0 w 7064"/>
                <a:gd name="T1" fmla="*/ 4318 h 4318"/>
                <a:gd name="T2" fmla="*/ 706 w 7064"/>
                <a:gd name="T3" fmla="*/ 4040 h 4318"/>
                <a:gd name="T4" fmla="*/ 1287 w 7064"/>
                <a:gd name="T5" fmla="*/ 3258 h 4318"/>
                <a:gd name="T6" fmla="*/ 2132 w 7064"/>
                <a:gd name="T7" fmla="*/ 3523 h 4318"/>
                <a:gd name="T8" fmla="*/ 2964 w 7064"/>
                <a:gd name="T9" fmla="*/ 2383 h 4318"/>
                <a:gd name="T10" fmla="*/ 3658 w 7064"/>
                <a:gd name="T11" fmla="*/ 2891 h 4318"/>
                <a:gd name="T12" fmla="*/ 4730 w 7064"/>
                <a:gd name="T13" fmla="*/ 1541 h 4318"/>
                <a:gd name="T14" fmla="*/ 5374 w 7064"/>
                <a:gd name="T15" fmla="*/ 1995 h 4318"/>
                <a:gd name="T16" fmla="*/ 7064 w 7064"/>
                <a:gd name="T17" fmla="*/ 0 h 4318"/>
                <a:gd name="T18" fmla="*/ 0 w 7064"/>
                <a:gd name="T19" fmla="*/ 0 h 4318"/>
                <a:gd name="T20" fmla="*/ 0 w 7064"/>
                <a:gd name="T21" fmla="*/ 4318 h 4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064" h="4318">
                  <a:moveTo>
                    <a:pt x="0" y="4318"/>
                  </a:moveTo>
                  <a:lnTo>
                    <a:pt x="706" y="4040"/>
                  </a:lnTo>
                  <a:lnTo>
                    <a:pt x="1287" y="3258"/>
                  </a:lnTo>
                  <a:lnTo>
                    <a:pt x="2132" y="3523"/>
                  </a:lnTo>
                  <a:lnTo>
                    <a:pt x="2964" y="2383"/>
                  </a:lnTo>
                  <a:lnTo>
                    <a:pt x="3658" y="2891"/>
                  </a:lnTo>
                  <a:lnTo>
                    <a:pt x="4730" y="1541"/>
                  </a:lnTo>
                  <a:lnTo>
                    <a:pt x="5374" y="1995"/>
                  </a:lnTo>
                  <a:lnTo>
                    <a:pt x="7064" y="0"/>
                  </a:lnTo>
                  <a:lnTo>
                    <a:pt x="0" y="0"/>
                  </a:lnTo>
                  <a:lnTo>
                    <a:pt x="0" y="43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7EA921D1-1711-4BD4-A378-31BE71060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" y="-3"/>
              <a:ext cx="7071" cy="4546"/>
            </a:xfrm>
            <a:custGeom>
              <a:avLst/>
              <a:gdLst>
                <a:gd name="T0" fmla="*/ 0 w 7064"/>
                <a:gd name="T1" fmla="*/ 4318 h 4318"/>
                <a:gd name="T2" fmla="*/ 706 w 7064"/>
                <a:gd name="T3" fmla="*/ 4040 h 4318"/>
                <a:gd name="T4" fmla="*/ 1287 w 7064"/>
                <a:gd name="T5" fmla="*/ 3258 h 4318"/>
                <a:gd name="T6" fmla="*/ 2132 w 7064"/>
                <a:gd name="T7" fmla="*/ 3523 h 4318"/>
                <a:gd name="T8" fmla="*/ 2964 w 7064"/>
                <a:gd name="T9" fmla="*/ 2383 h 4318"/>
                <a:gd name="T10" fmla="*/ 3658 w 7064"/>
                <a:gd name="T11" fmla="*/ 2891 h 4318"/>
                <a:gd name="T12" fmla="*/ 4730 w 7064"/>
                <a:gd name="T13" fmla="*/ 1541 h 4318"/>
                <a:gd name="T14" fmla="*/ 5374 w 7064"/>
                <a:gd name="T15" fmla="*/ 1995 h 4318"/>
                <a:gd name="T16" fmla="*/ 7064 w 7064"/>
                <a:gd name="T17" fmla="*/ 0 h 4318"/>
                <a:gd name="T18" fmla="*/ 0 w 7064"/>
                <a:gd name="T19" fmla="*/ 0 h 4318"/>
                <a:gd name="T20" fmla="*/ 0 w 7064"/>
                <a:gd name="T21" fmla="*/ 4318 h 4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064" h="4318">
                  <a:moveTo>
                    <a:pt x="0" y="4318"/>
                  </a:moveTo>
                  <a:lnTo>
                    <a:pt x="706" y="4040"/>
                  </a:lnTo>
                  <a:lnTo>
                    <a:pt x="1287" y="3258"/>
                  </a:lnTo>
                  <a:lnTo>
                    <a:pt x="2132" y="3523"/>
                  </a:lnTo>
                  <a:lnTo>
                    <a:pt x="2964" y="2383"/>
                  </a:lnTo>
                  <a:lnTo>
                    <a:pt x="3658" y="2891"/>
                  </a:lnTo>
                  <a:lnTo>
                    <a:pt x="4730" y="1541"/>
                  </a:lnTo>
                  <a:lnTo>
                    <a:pt x="5374" y="1995"/>
                  </a:lnTo>
                  <a:lnTo>
                    <a:pt x="7064" y="0"/>
                  </a:lnTo>
                  <a:lnTo>
                    <a:pt x="0" y="0"/>
                  </a:lnTo>
                  <a:lnTo>
                    <a:pt x="0" y="431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2" name="Freeform 19">
            <a:extLst>
              <a:ext uri="{FF2B5EF4-FFF2-40B4-BE49-F238E27FC236}">
                <a16:creationId xmlns:a16="http://schemas.microsoft.com/office/drawing/2014/main" id="{00416858-A5A4-42B6-8664-8F96094D61D0}"/>
              </a:ext>
            </a:extLst>
          </p:cNvPr>
          <p:cNvSpPr>
            <a:spLocks noEditPoints="1"/>
          </p:cNvSpPr>
          <p:nvPr/>
        </p:nvSpPr>
        <p:spPr bwMode="auto">
          <a:xfrm>
            <a:off x="0" y="0"/>
            <a:ext cx="12192000" cy="6870701"/>
          </a:xfrm>
          <a:custGeom>
            <a:avLst/>
            <a:gdLst>
              <a:gd name="T0" fmla="*/ 6795 w 6795"/>
              <a:gd name="T1" fmla="*/ 0 h 4262"/>
              <a:gd name="T2" fmla="*/ 5617 w 6795"/>
              <a:gd name="T3" fmla="*/ 329 h 4262"/>
              <a:gd name="T4" fmla="*/ 6018 w 6795"/>
              <a:gd name="T5" fmla="*/ 649 h 4262"/>
              <a:gd name="T6" fmla="*/ 5317 w 6795"/>
              <a:gd name="T7" fmla="*/ 1432 h 4262"/>
              <a:gd name="T8" fmla="*/ 4606 w 6795"/>
              <a:gd name="T9" fmla="*/ 1006 h 4262"/>
              <a:gd name="T10" fmla="*/ 3566 w 6795"/>
              <a:gd name="T11" fmla="*/ 2297 h 4262"/>
              <a:gd name="T12" fmla="*/ 2859 w 6795"/>
              <a:gd name="T13" fmla="*/ 1846 h 4262"/>
              <a:gd name="T14" fmla="*/ 2016 w 6795"/>
              <a:gd name="T15" fmla="*/ 2961 h 4262"/>
              <a:gd name="T16" fmla="*/ 1221 w 6795"/>
              <a:gd name="T17" fmla="*/ 2783 h 4262"/>
              <a:gd name="T18" fmla="*/ 601 w 6795"/>
              <a:gd name="T19" fmla="*/ 3604 h 4262"/>
              <a:gd name="T20" fmla="*/ 0 w 6795"/>
              <a:gd name="T21" fmla="*/ 3795 h 4262"/>
              <a:gd name="T22" fmla="*/ 0 w 6795"/>
              <a:gd name="T23" fmla="*/ 4262 h 4262"/>
              <a:gd name="T24" fmla="*/ 886 w 6795"/>
              <a:gd name="T25" fmla="*/ 4027 h 4262"/>
              <a:gd name="T26" fmla="*/ 1418 w 6795"/>
              <a:gd name="T27" fmla="*/ 3322 h 4262"/>
              <a:gd name="T28" fmla="*/ 2214 w 6795"/>
              <a:gd name="T29" fmla="*/ 3500 h 4262"/>
              <a:gd name="T30" fmla="*/ 2975 w 6795"/>
              <a:gd name="T31" fmla="*/ 2495 h 4262"/>
              <a:gd name="T32" fmla="*/ 3673 w 6795"/>
              <a:gd name="T33" fmla="*/ 2936 h 4262"/>
              <a:gd name="T34" fmla="*/ 4719 w 6795"/>
              <a:gd name="T35" fmla="*/ 1639 h 4262"/>
              <a:gd name="T36" fmla="*/ 5411 w 6795"/>
              <a:gd name="T37" fmla="*/ 2053 h 4262"/>
              <a:gd name="T38" fmla="*/ 6394 w 6795"/>
              <a:gd name="T39" fmla="*/ 953 h 4262"/>
              <a:gd name="T40" fmla="*/ 6729 w 6795"/>
              <a:gd name="T41" fmla="*/ 1219 h 4262"/>
              <a:gd name="T42" fmla="*/ 6795 w 6795"/>
              <a:gd name="T43" fmla="*/ 0 h 4262"/>
              <a:gd name="T44" fmla="*/ 6795 w 6795"/>
              <a:gd name="T45" fmla="*/ 0 h 4262"/>
              <a:gd name="T46" fmla="*/ 6795 w 6795"/>
              <a:gd name="T47" fmla="*/ 0 h 4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795" h="4262">
                <a:moveTo>
                  <a:pt x="6795" y="0"/>
                </a:moveTo>
                <a:lnTo>
                  <a:pt x="5617" y="329"/>
                </a:lnTo>
                <a:lnTo>
                  <a:pt x="6018" y="649"/>
                </a:lnTo>
                <a:lnTo>
                  <a:pt x="5317" y="1432"/>
                </a:lnTo>
                <a:lnTo>
                  <a:pt x="4606" y="1006"/>
                </a:lnTo>
                <a:lnTo>
                  <a:pt x="3566" y="2297"/>
                </a:lnTo>
                <a:lnTo>
                  <a:pt x="2859" y="1846"/>
                </a:lnTo>
                <a:lnTo>
                  <a:pt x="2016" y="2961"/>
                </a:lnTo>
                <a:lnTo>
                  <a:pt x="1221" y="2783"/>
                </a:lnTo>
                <a:lnTo>
                  <a:pt x="601" y="3604"/>
                </a:lnTo>
                <a:lnTo>
                  <a:pt x="0" y="3795"/>
                </a:lnTo>
                <a:lnTo>
                  <a:pt x="0" y="4262"/>
                </a:lnTo>
                <a:lnTo>
                  <a:pt x="886" y="4027"/>
                </a:lnTo>
                <a:lnTo>
                  <a:pt x="1418" y="3322"/>
                </a:lnTo>
                <a:lnTo>
                  <a:pt x="2214" y="3500"/>
                </a:lnTo>
                <a:lnTo>
                  <a:pt x="2975" y="2495"/>
                </a:lnTo>
                <a:lnTo>
                  <a:pt x="3673" y="2936"/>
                </a:lnTo>
                <a:lnTo>
                  <a:pt x="4719" y="1639"/>
                </a:lnTo>
                <a:lnTo>
                  <a:pt x="5411" y="2053"/>
                </a:lnTo>
                <a:lnTo>
                  <a:pt x="6394" y="953"/>
                </a:lnTo>
                <a:lnTo>
                  <a:pt x="6729" y="1219"/>
                </a:lnTo>
                <a:lnTo>
                  <a:pt x="6795" y="0"/>
                </a:lnTo>
                <a:close/>
                <a:moveTo>
                  <a:pt x="6795" y="0"/>
                </a:moveTo>
                <a:lnTo>
                  <a:pt x="6795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8758A8B-1B2F-7D97-5E07-A44068796CFF}"/>
              </a:ext>
            </a:extLst>
          </p:cNvPr>
          <p:cNvSpPr txBox="1"/>
          <p:nvPr/>
        </p:nvSpPr>
        <p:spPr>
          <a:xfrm>
            <a:off x="785387" y="451909"/>
            <a:ext cx="9109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EU-WIDE STRESS TESTING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5A6E2B-429E-317C-7CA2-FD34AAD8BA97}"/>
              </a:ext>
            </a:extLst>
          </p:cNvPr>
          <p:cNvSpPr txBox="1"/>
          <p:nvPr/>
        </p:nvSpPr>
        <p:spPr>
          <a:xfrm>
            <a:off x="785386" y="1380529"/>
            <a:ext cx="7116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Analysis of the </a:t>
            </a:r>
            <a:r>
              <a:rPr lang="it-IT" sz="2800" dirty="0" err="1">
                <a:solidFill>
                  <a:schemeClr val="bg1"/>
                </a:solidFill>
                <a:latin typeface="Trade Gothic Next Heavy" panose="020B0903040303020004" pitchFamily="34" charset="0"/>
              </a:rPr>
              <a:t>results</a:t>
            </a:r>
            <a:r>
              <a:rPr lang="it-IT" sz="28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 for 2018 and 2021</a:t>
            </a:r>
          </a:p>
        </p:txBody>
      </p:sp>
    </p:spTree>
    <p:extLst>
      <p:ext uri="{BB962C8B-B14F-4D97-AF65-F5344CB8AC3E}">
        <p14:creationId xmlns:p14="http://schemas.microsoft.com/office/powerpoint/2010/main" val="206664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3" grpId="1"/>
      <p:bldP spid="4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42A"/>
            </a:gs>
            <a:gs pos="52000">
              <a:srgbClr val="023E4D"/>
            </a:gs>
            <a:gs pos="100000">
              <a:srgbClr val="024654"/>
            </a:gs>
          </a:gsLst>
          <a:lin ang="5400000" scaled="1"/>
        </a:gra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4"/>
          <p:cNvSpPr txBox="1">
            <a:spLocks noGrp="1"/>
          </p:cNvSpPr>
          <p:nvPr>
            <p:ph type="title"/>
          </p:nvPr>
        </p:nvSpPr>
        <p:spPr>
          <a:xfrm>
            <a:off x="779435" y="763747"/>
            <a:ext cx="8596668" cy="930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48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Team Presentation</a:t>
            </a:r>
            <a:endParaRPr sz="4800" dirty="0">
              <a:solidFill>
                <a:schemeClr val="bg1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666" name="Google Shape;666;p44"/>
          <p:cNvSpPr txBox="1"/>
          <p:nvPr/>
        </p:nvSpPr>
        <p:spPr>
          <a:xfrm>
            <a:off x="779435" y="4442771"/>
            <a:ext cx="1762633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b="1" dirty="0">
                <a:solidFill>
                  <a:srgbClr val="FF7300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Flavia Scarfò</a:t>
            </a:r>
            <a:br>
              <a:rPr lang="en" dirty="0"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</a:br>
            <a:r>
              <a:rPr lang="en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Financial Risk </a:t>
            </a:r>
          </a:p>
          <a:p>
            <a:pPr algn="ctr"/>
            <a:r>
              <a:rPr lang="it-IT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a</a:t>
            </a:r>
            <a:r>
              <a:rPr lang="en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nd </a:t>
            </a:r>
          </a:p>
          <a:p>
            <a:pPr algn="ctr"/>
            <a:r>
              <a:rPr lang="en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Data Analysis</a:t>
            </a:r>
            <a:endParaRPr sz="1067" dirty="0">
              <a:solidFill>
                <a:schemeClr val="bg1"/>
              </a:solidFill>
              <a:latin typeface="Trade Gothic Next Heavy" panose="020B0903040303020004" pitchFamily="34" charset="0"/>
              <a:ea typeface="PT Serif"/>
              <a:cs typeface="PT Serif"/>
              <a:sym typeface="PT Serif"/>
            </a:endParaRPr>
          </a:p>
          <a:p>
            <a:pPr algn="ctr">
              <a:spcBef>
                <a:spcPts val="533"/>
              </a:spcBef>
              <a:spcAft>
                <a:spcPts val="533"/>
              </a:spcAft>
            </a:pPr>
            <a:endParaRPr sz="2400" dirty="0"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668" name="Google Shape;668;p44"/>
          <p:cNvSpPr txBox="1"/>
          <p:nvPr/>
        </p:nvSpPr>
        <p:spPr>
          <a:xfrm>
            <a:off x="3019994" y="4480601"/>
            <a:ext cx="1968937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b="1" dirty="0">
                <a:solidFill>
                  <a:srgbClr val="FF7300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Federico Travascio</a:t>
            </a:r>
            <a:br>
              <a:rPr lang="en" sz="2400" dirty="0"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</a:br>
            <a:r>
              <a:rPr lang="en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Financial Risk </a:t>
            </a:r>
          </a:p>
          <a:p>
            <a:pPr algn="ctr"/>
            <a:r>
              <a:rPr lang="it-IT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a</a:t>
            </a:r>
            <a:r>
              <a:rPr lang="en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nd </a:t>
            </a:r>
          </a:p>
          <a:p>
            <a:pPr algn="ctr"/>
            <a:r>
              <a:rPr lang="en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Data Analysis</a:t>
            </a:r>
            <a:endParaRPr sz="1067" dirty="0">
              <a:solidFill>
                <a:schemeClr val="bg1"/>
              </a:solidFill>
              <a:latin typeface="Trade Gothic Next Heavy" panose="020B0903040303020004" pitchFamily="34" charset="0"/>
              <a:ea typeface="PT Serif"/>
              <a:cs typeface="PT Serif"/>
              <a:sym typeface="PT Serif"/>
            </a:endParaRPr>
          </a:p>
          <a:p>
            <a:pPr algn="ctr">
              <a:spcBef>
                <a:spcPts val="533"/>
              </a:spcBef>
            </a:pPr>
            <a:endParaRPr sz="2400" dirty="0">
              <a:latin typeface="PT Serif"/>
              <a:ea typeface="PT Serif"/>
              <a:cs typeface="PT Serif"/>
              <a:sym typeface="PT Serif"/>
            </a:endParaRPr>
          </a:p>
          <a:p>
            <a:pPr algn="ctr">
              <a:spcBef>
                <a:spcPts val="533"/>
              </a:spcBef>
              <a:spcAft>
                <a:spcPts val="533"/>
              </a:spcAft>
            </a:pPr>
            <a:endParaRPr sz="2400" dirty="0"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670" name="Google Shape;670;p44"/>
          <p:cNvSpPr txBox="1"/>
          <p:nvPr/>
        </p:nvSpPr>
        <p:spPr>
          <a:xfrm>
            <a:off x="5482595" y="4442771"/>
            <a:ext cx="16476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b="1" dirty="0">
                <a:solidFill>
                  <a:srgbClr val="FF7300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Fabio Tripodi</a:t>
            </a:r>
            <a:br>
              <a:rPr lang="en" sz="2400" dirty="0"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</a:br>
            <a:r>
              <a:rPr lang="en" sz="1050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Financial Risk </a:t>
            </a:r>
          </a:p>
          <a:p>
            <a:pPr algn="ctr"/>
            <a:r>
              <a:rPr lang="it-IT" sz="1050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and </a:t>
            </a:r>
          </a:p>
          <a:p>
            <a:pPr algn="ctr"/>
            <a:r>
              <a:rPr lang="it-IT" sz="1050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Data Analysis</a:t>
            </a:r>
            <a:endParaRPr sz="1050" dirty="0">
              <a:solidFill>
                <a:schemeClr val="bg1"/>
              </a:solidFill>
              <a:latin typeface="Trade Gothic Next Heavy" panose="020B0903040303020004" pitchFamily="34" charset="0"/>
              <a:ea typeface="PT Serif"/>
              <a:cs typeface="PT Serif"/>
              <a:sym typeface="PT Serif"/>
            </a:endParaRPr>
          </a:p>
          <a:p>
            <a:pPr algn="ctr">
              <a:spcBef>
                <a:spcPts val="533"/>
              </a:spcBef>
              <a:spcAft>
                <a:spcPts val="533"/>
              </a:spcAft>
            </a:pPr>
            <a:endParaRPr sz="2400" dirty="0"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672" name="Google Shape;672;p44"/>
          <p:cNvSpPr txBox="1"/>
          <p:nvPr/>
        </p:nvSpPr>
        <p:spPr>
          <a:xfrm>
            <a:off x="7563921" y="4439436"/>
            <a:ext cx="1812182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b="1" dirty="0">
                <a:solidFill>
                  <a:srgbClr val="FF7300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Giovanni B. Tozzi</a:t>
            </a:r>
            <a:br>
              <a:rPr lang="en" sz="2400" dirty="0">
                <a:solidFill>
                  <a:srgbClr val="6AA84F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</a:br>
            <a:r>
              <a:rPr lang="en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Financial Risk </a:t>
            </a:r>
          </a:p>
          <a:p>
            <a:pPr algn="ctr"/>
            <a:r>
              <a:rPr lang="it-IT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a</a:t>
            </a:r>
            <a:r>
              <a:rPr lang="en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nd</a:t>
            </a:r>
          </a:p>
          <a:p>
            <a:pPr algn="ctr"/>
            <a:r>
              <a:rPr lang="en" sz="1067" dirty="0">
                <a:solidFill>
                  <a:schemeClr val="bg1"/>
                </a:solidFill>
                <a:latin typeface="Trade Gothic Next Heavy" panose="020B0903040303020004" pitchFamily="34" charset="0"/>
                <a:ea typeface="PT Serif"/>
                <a:cs typeface="PT Serif"/>
                <a:sym typeface="PT Serif"/>
              </a:rPr>
              <a:t>Data Analysis</a:t>
            </a:r>
            <a:endParaRPr sz="1067" dirty="0">
              <a:solidFill>
                <a:schemeClr val="bg1"/>
              </a:solidFill>
              <a:latin typeface="Trade Gothic Next Heavy" panose="020B0903040303020004" pitchFamily="34" charset="0"/>
              <a:ea typeface="PT Serif"/>
              <a:cs typeface="PT Serif"/>
              <a:sym typeface="PT Serif"/>
            </a:endParaRPr>
          </a:p>
          <a:p>
            <a:pPr algn="ctr">
              <a:spcBef>
                <a:spcPts val="533"/>
              </a:spcBef>
              <a:spcAft>
                <a:spcPts val="533"/>
              </a:spcAft>
            </a:pPr>
            <a:endParaRPr sz="2400" dirty="0">
              <a:latin typeface="PT Serif"/>
              <a:ea typeface="PT Serif"/>
              <a:cs typeface="PT Serif"/>
              <a:sym typeface="PT Serif"/>
            </a:endParaRPr>
          </a:p>
        </p:txBody>
      </p:sp>
      <p:pic>
        <p:nvPicPr>
          <p:cNvPr id="3" name="Immagine 2" descr="Immagine che contiene aria aperta, vestiti, cielo, persona&#10;&#10;Descrizione generata automaticamente">
            <a:extLst>
              <a:ext uri="{FF2B5EF4-FFF2-40B4-BE49-F238E27FC236}">
                <a16:creationId xmlns:a16="http://schemas.microsoft.com/office/drawing/2014/main" id="{F97B94F1-1912-1539-387C-9781D5E262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93" t="53432" r="34114" b="25712"/>
          <a:stretch/>
        </p:blipFill>
        <p:spPr>
          <a:xfrm>
            <a:off x="648917" y="2229677"/>
            <a:ext cx="2054591" cy="217664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magine 5" descr="Immagine che contiene persona, Viso umano, sopracciglio, Mento&#10;&#10;Descrizione generata automaticamente">
            <a:extLst>
              <a:ext uri="{FF2B5EF4-FFF2-40B4-BE49-F238E27FC236}">
                <a16:creationId xmlns:a16="http://schemas.microsoft.com/office/drawing/2014/main" id="{B58ECCCF-4F36-DE97-A921-83F428504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254" y="2162093"/>
            <a:ext cx="2190419" cy="23118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magine 7" descr="Immagine che contiene Viso umano, persona, vestiti, muro&#10;&#10;Descrizione generata automaticamente">
            <a:extLst>
              <a:ext uri="{FF2B5EF4-FFF2-40B4-BE49-F238E27FC236}">
                <a16:creationId xmlns:a16="http://schemas.microsoft.com/office/drawing/2014/main" id="{688D3F01-F0CB-11F3-0C71-265897906F9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2" t="15908" r="17213" b="23418"/>
          <a:stretch/>
        </p:blipFill>
        <p:spPr>
          <a:xfrm>
            <a:off x="5261113" y="2094510"/>
            <a:ext cx="2036960" cy="23118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magine 9" descr="Immagine che contiene Viso umano, persona, uomo, collo&#10;&#10;Descrizione generata automaticamente">
            <a:extLst>
              <a:ext uri="{FF2B5EF4-FFF2-40B4-BE49-F238E27FC236}">
                <a16:creationId xmlns:a16="http://schemas.microsoft.com/office/drawing/2014/main" id="{20126A52-ACE7-9231-8CA9-24F63CE0BA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532" y="2072658"/>
            <a:ext cx="2036960" cy="231503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" grpId="0"/>
      <p:bldP spid="666" grpId="0"/>
      <p:bldP spid="668" grpId="0"/>
      <p:bldP spid="670" grpId="0"/>
      <p:bldP spid="67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799F3B1-A45F-4CF7-BF0C-8347D326C5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722361" y="1582583"/>
            <a:ext cx="457200" cy="457200"/>
          </a:xfrm>
          <a:prstGeom prst="ellipse">
            <a:avLst/>
          </a:prstGeom>
          <a:noFill/>
          <a:ln>
            <a:solidFill>
              <a:srgbClr val="FF7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r>
              <a:rPr lang="en-US" sz="1600" dirty="0">
                <a:solidFill>
                  <a:schemeClr val="bg1"/>
                </a:solidFill>
                <a:latin typeface="Trade Gothic Next Heavy" panose="020B0903040303020004" pitchFamily="34" charset="0"/>
                <a:cs typeface="Lato Light"/>
              </a:rPr>
              <a:t>1</a:t>
            </a:r>
          </a:p>
        </p:txBody>
      </p:sp>
      <p:sp>
        <p:nvSpPr>
          <p:cNvPr id="28677" name="TextBox 163"/>
          <p:cNvSpPr txBox="1">
            <a:spLocks noChangeArrowheads="1"/>
          </p:cNvSpPr>
          <p:nvPr/>
        </p:nvSpPr>
        <p:spPr bwMode="auto">
          <a:xfrm>
            <a:off x="1276399" y="1901381"/>
            <a:ext cx="59856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Authorities in charge, scenarios and methodologies</a:t>
            </a:r>
          </a:p>
        </p:txBody>
      </p:sp>
      <p:sp>
        <p:nvSpPr>
          <p:cNvPr id="28678" name="Rectangle 164"/>
          <p:cNvSpPr>
            <a:spLocks noChangeArrowheads="1"/>
          </p:cNvSpPr>
          <p:nvPr/>
        </p:nvSpPr>
        <p:spPr bwMode="auto">
          <a:xfrm>
            <a:off x="1299179" y="1453180"/>
            <a:ext cx="59424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2400" dirty="0">
                <a:solidFill>
                  <a:srgbClr val="FFC000"/>
                </a:solidFill>
                <a:latin typeface="Trade Gothic Next Heavy" panose="020B0903040303020004" pitchFamily="34" charset="0"/>
              </a:rPr>
              <a:t>Introduction: main features of stress tests</a:t>
            </a:r>
          </a:p>
        </p:txBody>
      </p:sp>
      <p:sp>
        <p:nvSpPr>
          <p:cNvPr id="166" name="Oval 165"/>
          <p:cNvSpPr/>
          <p:nvPr/>
        </p:nvSpPr>
        <p:spPr>
          <a:xfrm>
            <a:off x="722361" y="2836033"/>
            <a:ext cx="457200" cy="457200"/>
          </a:xfrm>
          <a:prstGeom prst="ellipse">
            <a:avLst/>
          </a:prstGeom>
          <a:noFill/>
          <a:ln>
            <a:solidFill>
              <a:srgbClr val="FF7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r>
              <a:rPr lang="en-US" sz="1600" dirty="0">
                <a:solidFill>
                  <a:schemeClr val="bg1"/>
                </a:solidFill>
                <a:latin typeface="Trade Gothic Next Heavy" panose="020B0903040303020004" pitchFamily="34" charset="0"/>
                <a:cs typeface="Lato Light"/>
              </a:rPr>
              <a:t>2</a:t>
            </a:r>
          </a:p>
        </p:txBody>
      </p:sp>
      <p:sp>
        <p:nvSpPr>
          <p:cNvPr id="28680" name="TextBox 166"/>
          <p:cNvSpPr txBox="1">
            <a:spLocks noChangeArrowheads="1"/>
          </p:cNvSpPr>
          <p:nvPr/>
        </p:nvSpPr>
        <p:spPr bwMode="auto">
          <a:xfrm>
            <a:off x="1255761" y="3090446"/>
            <a:ext cx="59856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Key aspects, impact on capital ratios, main drivers of the impact</a:t>
            </a:r>
          </a:p>
        </p:txBody>
      </p:sp>
      <p:sp>
        <p:nvSpPr>
          <p:cNvPr id="28681" name="Rectangle 167"/>
          <p:cNvSpPr>
            <a:spLocks noChangeArrowheads="1"/>
          </p:cNvSpPr>
          <p:nvPr/>
        </p:nvSpPr>
        <p:spPr bwMode="auto">
          <a:xfrm>
            <a:off x="1276399" y="2640044"/>
            <a:ext cx="31988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2400" dirty="0">
                <a:solidFill>
                  <a:srgbClr val="FFC000"/>
                </a:solidFill>
                <a:latin typeface="Trade Gothic Next Heavy" panose="020B0903040303020004" pitchFamily="34" charset="0"/>
              </a:rPr>
              <a:t>EBA Stress Test 2018</a:t>
            </a:r>
          </a:p>
        </p:txBody>
      </p:sp>
      <p:sp>
        <p:nvSpPr>
          <p:cNvPr id="169" name="Oval 168"/>
          <p:cNvSpPr/>
          <p:nvPr/>
        </p:nvSpPr>
        <p:spPr>
          <a:xfrm>
            <a:off x="722361" y="4000139"/>
            <a:ext cx="457200" cy="457200"/>
          </a:xfrm>
          <a:prstGeom prst="ellipse">
            <a:avLst/>
          </a:prstGeom>
          <a:noFill/>
          <a:ln>
            <a:solidFill>
              <a:srgbClr val="FF7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r>
              <a:rPr lang="en-US" sz="1600" dirty="0">
                <a:solidFill>
                  <a:schemeClr val="bg1"/>
                </a:solidFill>
                <a:latin typeface="Trade Gothic Next Heavy" panose="020B0903040303020004" pitchFamily="34" charset="0"/>
                <a:cs typeface="Lato Light"/>
              </a:rPr>
              <a:t>3</a:t>
            </a:r>
          </a:p>
        </p:txBody>
      </p:sp>
      <p:sp>
        <p:nvSpPr>
          <p:cNvPr id="28683" name="TextBox 169"/>
          <p:cNvSpPr txBox="1">
            <a:spLocks noChangeArrowheads="1"/>
          </p:cNvSpPr>
          <p:nvPr/>
        </p:nvSpPr>
        <p:spPr bwMode="auto">
          <a:xfrm>
            <a:off x="1276399" y="4271122"/>
            <a:ext cx="59856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Key aspects, impact on capital ratios, main drivers of the impact</a:t>
            </a:r>
          </a:p>
        </p:txBody>
      </p:sp>
      <p:sp>
        <p:nvSpPr>
          <p:cNvPr id="28684" name="Rectangle 170"/>
          <p:cNvSpPr>
            <a:spLocks noChangeArrowheads="1"/>
          </p:cNvSpPr>
          <p:nvPr/>
        </p:nvSpPr>
        <p:spPr bwMode="auto">
          <a:xfrm>
            <a:off x="1255761" y="3809457"/>
            <a:ext cx="40195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2400" dirty="0">
                <a:solidFill>
                  <a:srgbClr val="FFC000"/>
                </a:solidFill>
                <a:latin typeface="Trade Gothic Next Heavy" panose="020B0903040303020004" pitchFamily="34" charset="0"/>
              </a:rPr>
              <a:t>EBA Stress Test 2020/2021</a:t>
            </a:r>
          </a:p>
        </p:txBody>
      </p:sp>
      <p:sp>
        <p:nvSpPr>
          <p:cNvPr id="172" name="Oval 171"/>
          <p:cNvSpPr/>
          <p:nvPr/>
        </p:nvSpPr>
        <p:spPr>
          <a:xfrm>
            <a:off x="722361" y="5152931"/>
            <a:ext cx="457200" cy="457200"/>
          </a:xfrm>
          <a:prstGeom prst="ellipse">
            <a:avLst/>
          </a:prstGeom>
          <a:noFill/>
          <a:ln>
            <a:solidFill>
              <a:srgbClr val="FF7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r>
              <a:rPr lang="en-US" sz="1600" dirty="0">
                <a:solidFill>
                  <a:schemeClr val="bg1"/>
                </a:solidFill>
                <a:latin typeface="Trade Gothic Next Heavy" panose="020B0903040303020004" pitchFamily="34" charset="0"/>
                <a:cs typeface="Lato Light"/>
              </a:rPr>
              <a:t>4</a:t>
            </a:r>
          </a:p>
        </p:txBody>
      </p:sp>
      <p:sp>
        <p:nvSpPr>
          <p:cNvPr id="28686" name="TextBox 172"/>
          <p:cNvSpPr txBox="1">
            <a:spLocks noChangeArrowheads="1"/>
          </p:cNvSpPr>
          <p:nvPr/>
        </p:nvSpPr>
        <p:spPr bwMode="auto">
          <a:xfrm>
            <a:off x="1255761" y="5395284"/>
            <a:ext cx="61686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600" b="1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Analysis of the impact of the pandemic</a:t>
            </a:r>
          </a:p>
        </p:txBody>
      </p:sp>
      <p:sp>
        <p:nvSpPr>
          <p:cNvPr id="28687" name="Rectangle 173"/>
          <p:cNvSpPr>
            <a:spLocks noChangeArrowheads="1"/>
          </p:cNvSpPr>
          <p:nvPr/>
        </p:nvSpPr>
        <p:spPr bwMode="auto">
          <a:xfrm>
            <a:off x="1255761" y="4956144"/>
            <a:ext cx="5574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2400" dirty="0">
                <a:solidFill>
                  <a:srgbClr val="FFC000"/>
                </a:solidFill>
                <a:latin typeface="Trade Gothic Next Heavy" panose="020B0903040303020004" pitchFamily="34" charset="0"/>
              </a:rPr>
              <a:t>Case study: Special Focus on Covid-19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747967A-D07B-4554-8E69-0B47904A60F5}"/>
              </a:ext>
            </a:extLst>
          </p:cNvPr>
          <p:cNvSpPr txBox="1"/>
          <p:nvPr/>
        </p:nvSpPr>
        <p:spPr>
          <a:xfrm>
            <a:off x="618422" y="658758"/>
            <a:ext cx="6519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SECTION TOPICS</a:t>
            </a:r>
          </a:p>
        </p:txBody>
      </p:sp>
      <p:pic>
        <p:nvPicPr>
          <p:cNvPr id="12" name="Immagine 11" descr="Immagine che contiene testo, cielo, edificio, aria aperta&#10;&#10;Descrizione generata automaticamente">
            <a:extLst>
              <a:ext uri="{FF2B5EF4-FFF2-40B4-BE49-F238E27FC236}">
                <a16:creationId xmlns:a16="http://schemas.microsoft.com/office/drawing/2014/main" id="{21D59AAA-304A-7BFB-A98C-EB7B88F9A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582" y="0"/>
            <a:ext cx="469141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/>
      <p:bldP spid="28677" grpId="0"/>
      <p:bldP spid="28678" grpId="0"/>
      <p:bldP spid="166" grpId="0" animBg="1"/>
      <p:bldP spid="28680" grpId="0"/>
      <p:bldP spid="28681" grpId="0"/>
      <p:bldP spid="169" grpId="0" animBg="1"/>
      <p:bldP spid="28683" grpId="0"/>
      <p:bldP spid="28684" grpId="0"/>
      <p:bldP spid="172" grpId="0" animBg="1"/>
      <p:bldP spid="28686" grpId="0"/>
      <p:bldP spid="28687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Freeform 131"/>
          <p:cNvSpPr>
            <a:spLocks noEditPoints="1"/>
          </p:cNvSpPr>
          <p:nvPr/>
        </p:nvSpPr>
        <p:spPr bwMode="auto">
          <a:xfrm>
            <a:off x="4476066" y="1099005"/>
            <a:ext cx="347663" cy="348456"/>
          </a:xfrm>
          <a:custGeom>
            <a:avLst/>
            <a:gdLst>
              <a:gd name="T0" fmla="*/ 55 w 55"/>
              <a:gd name="T1" fmla="*/ 28 h 55"/>
              <a:gd name="T2" fmla="*/ 27 w 55"/>
              <a:gd name="T3" fmla="*/ 55 h 55"/>
              <a:gd name="T4" fmla="*/ 0 w 55"/>
              <a:gd name="T5" fmla="*/ 28 h 55"/>
              <a:gd name="T6" fmla="*/ 27 w 55"/>
              <a:gd name="T7" fmla="*/ 0 h 55"/>
              <a:gd name="T8" fmla="*/ 55 w 55"/>
              <a:gd name="T9" fmla="*/ 28 h 55"/>
              <a:gd name="T10" fmla="*/ 42 w 55"/>
              <a:gd name="T11" fmla="*/ 28 h 55"/>
              <a:gd name="T12" fmla="*/ 41 w 55"/>
              <a:gd name="T13" fmla="*/ 26 h 55"/>
              <a:gd name="T14" fmla="*/ 21 w 55"/>
              <a:gd name="T15" fmla="*/ 14 h 55"/>
              <a:gd name="T16" fmla="*/ 19 w 55"/>
              <a:gd name="T17" fmla="*/ 14 h 55"/>
              <a:gd name="T18" fmla="*/ 18 w 55"/>
              <a:gd name="T19" fmla="*/ 16 h 55"/>
              <a:gd name="T20" fmla="*/ 18 w 55"/>
              <a:gd name="T21" fmla="*/ 39 h 55"/>
              <a:gd name="T22" fmla="*/ 19 w 55"/>
              <a:gd name="T23" fmla="*/ 41 h 55"/>
              <a:gd name="T24" fmla="*/ 20 w 55"/>
              <a:gd name="T25" fmla="*/ 41 h 55"/>
              <a:gd name="T26" fmla="*/ 21 w 55"/>
              <a:gd name="T27" fmla="*/ 41 h 55"/>
              <a:gd name="T28" fmla="*/ 41 w 55"/>
              <a:gd name="T29" fmla="*/ 30 h 55"/>
              <a:gd name="T30" fmla="*/ 42 w 55"/>
              <a:gd name="T31" fmla="*/ 28 h 5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" h="55">
                <a:moveTo>
                  <a:pt x="55" y="28"/>
                </a:moveTo>
                <a:cubicBezTo>
                  <a:pt x="55" y="43"/>
                  <a:pt x="42" y="55"/>
                  <a:pt x="27" y="55"/>
                </a:cubicBezTo>
                <a:cubicBezTo>
                  <a:pt x="12" y="55"/>
                  <a:pt x="0" y="43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lose/>
                <a:moveTo>
                  <a:pt x="42" y="28"/>
                </a:moveTo>
                <a:cubicBezTo>
                  <a:pt x="42" y="27"/>
                  <a:pt x="42" y="26"/>
                  <a:pt x="41" y="26"/>
                </a:cubicBezTo>
                <a:cubicBezTo>
                  <a:pt x="21" y="14"/>
                  <a:pt x="21" y="14"/>
                  <a:pt x="21" y="14"/>
                </a:cubicBezTo>
                <a:cubicBezTo>
                  <a:pt x="21" y="14"/>
                  <a:pt x="20" y="14"/>
                  <a:pt x="19" y="14"/>
                </a:cubicBezTo>
                <a:cubicBezTo>
                  <a:pt x="18" y="15"/>
                  <a:pt x="18" y="16"/>
                  <a:pt x="18" y="16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40"/>
                  <a:pt x="18" y="41"/>
                  <a:pt x="19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21" y="41"/>
                  <a:pt x="21" y="41"/>
                  <a:pt x="21" y="41"/>
                </a:cubicBezTo>
                <a:cubicBezTo>
                  <a:pt x="41" y="30"/>
                  <a:pt x="41" y="30"/>
                  <a:pt x="41" y="30"/>
                </a:cubicBezTo>
                <a:cubicBezTo>
                  <a:pt x="42" y="29"/>
                  <a:pt x="42" y="29"/>
                  <a:pt x="42" y="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s-MX" sz="900" dirty="0"/>
          </a:p>
        </p:txBody>
      </p:sp>
      <p:sp>
        <p:nvSpPr>
          <p:cNvPr id="189" name="Freeform 15"/>
          <p:cNvSpPr>
            <a:spLocks noEditPoints="1"/>
          </p:cNvSpPr>
          <p:nvPr/>
        </p:nvSpPr>
        <p:spPr bwMode="auto">
          <a:xfrm>
            <a:off x="4510882" y="3796076"/>
            <a:ext cx="380206" cy="284956"/>
          </a:xfrm>
          <a:custGeom>
            <a:avLst/>
            <a:gdLst/>
            <a:ahLst/>
            <a:cxnLst>
              <a:cxn ang="0">
                <a:pos x="168" y="126"/>
              </a:cxn>
              <a:cxn ang="0">
                <a:pos x="0" y="126"/>
              </a:cxn>
              <a:cxn ang="0">
                <a:pos x="0" y="0"/>
              </a:cxn>
              <a:cxn ang="0">
                <a:pos x="10" y="0"/>
              </a:cxn>
              <a:cxn ang="0">
                <a:pos x="10" y="115"/>
              </a:cxn>
              <a:cxn ang="0">
                <a:pos x="168" y="115"/>
              </a:cxn>
              <a:cxn ang="0">
                <a:pos x="168" y="126"/>
              </a:cxn>
              <a:cxn ang="0">
                <a:pos x="54" y="104"/>
              </a:cxn>
              <a:cxn ang="0">
                <a:pos x="32" y="104"/>
              </a:cxn>
              <a:cxn ang="0">
                <a:pos x="32" y="63"/>
              </a:cxn>
              <a:cxn ang="0">
                <a:pos x="54" y="63"/>
              </a:cxn>
              <a:cxn ang="0">
                <a:pos x="54" y="104"/>
              </a:cxn>
              <a:cxn ang="0">
                <a:pos x="84" y="104"/>
              </a:cxn>
              <a:cxn ang="0">
                <a:pos x="64" y="104"/>
              </a:cxn>
              <a:cxn ang="0">
                <a:pos x="64" y="19"/>
              </a:cxn>
              <a:cxn ang="0">
                <a:pos x="84" y="19"/>
              </a:cxn>
              <a:cxn ang="0">
                <a:pos x="84" y="104"/>
              </a:cxn>
              <a:cxn ang="0">
                <a:pos x="116" y="104"/>
              </a:cxn>
              <a:cxn ang="0">
                <a:pos x="95" y="104"/>
              </a:cxn>
              <a:cxn ang="0">
                <a:pos x="95" y="41"/>
              </a:cxn>
              <a:cxn ang="0">
                <a:pos x="116" y="41"/>
              </a:cxn>
              <a:cxn ang="0">
                <a:pos x="116" y="104"/>
              </a:cxn>
              <a:cxn ang="0">
                <a:pos x="147" y="104"/>
              </a:cxn>
              <a:cxn ang="0">
                <a:pos x="127" y="104"/>
              </a:cxn>
              <a:cxn ang="0">
                <a:pos x="127" y="9"/>
              </a:cxn>
              <a:cxn ang="0">
                <a:pos x="147" y="9"/>
              </a:cxn>
              <a:cxn ang="0">
                <a:pos x="147" y="104"/>
              </a:cxn>
            </a:cxnLst>
            <a:rect l="0" t="0" r="r" b="b"/>
            <a:pathLst>
              <a:path w="168" h="126">
                <a:moveTo>
                  <a:pt x="168" y="126"/>
                </a:moveTo>
                <a:lnTo>
                  <a:pt x="0" y="126"/>
                </a:lnTo>
                <a:lnTo>
                  <a:pt x="0" y="0"/>
                </a:lnTo>
                <a:lnTo>
                  <a:pt x="10" y="0"/>
                </a:lnTo>
                <a:lnTo>
                  <a:pt x="10" y="115"/>
                </a:lnTo>
                <a:lnTo>
                  <a:pt x="168" y="115"/>
                </a:lnTo>
                <a:lnTo>
                  <a:pt x="168" y="126"/>
                </a:lnTo>
                <a:close/>
                <a:moveTo>
                  <a:pt x="54" y="104"/>
                </a:moveTo>
                <a:lnTo>
                  <a:pt x="32" y="104"/>
                </a:lnTo>
                <a:lnTo>
                  <a:pt x="32" y="63"/>
                </a:lnTo>
                <a:lnTo>
                  <a:pt x="54" y="63"/>
                </a:lnTo>
                <a:lnTo>
                  <a:pt x="54" y="104"/>
                </a:lnTo>
                <a:close/>
                <a:moveTo>
                  <a:pt x="84" y="104"/>
                </a:moveTo>
                <a:lnTo>
                  <a:pt x="64" y="104"/>
                </a:lnTo>
                <a:lnTo>
                  <a:pt x="64" y="19"/>
                </a:lnTo>
                <a:lnTo>
                  <a:pt x="84" y="19"/>
                </a:lnTo>
                <a:lnTo>
                  <a:pt x="84" y="104"/>
                </a:lnTo>
                <a:close/>
                <a:moveTo>
                  <a:pt x="116" y="104"/>
                </a:moveTo>
                <a:lnTo>
                  <a:pt x="95" y="104"/>
                </a:lnTo>
                <a:lnTo>
                  <a:pt x="95" y="41"/>
                </a:lnTo>
                <a:lnTo>
                  <a:pt x="116" y="41"/>
                </a:lnTo>
                <a:lnTo>
                  <a:pt x="116" y="104"/>
                </a:lnTo>
                <a:close/>
                <a:moveTo>
                  <a:pt x="147" y="104"/>
                </a:moveTo>
                <a:lnTo>
                  <a:pt x="127" y="104"/>
                </a:lnTo>
                <a:lnTo>
                  <a:pt x="127" y="9"/>
                </a:lnTo>
                <a:lnTo>
                  <a:pt x="147" y="9"/>
                </a:lnTo>
                <a:lnTo>
                  <a:pt x="147" y="104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defTabSz="914217">
              <a:defRPr/>
            </a:pPr>
            <a:endParaRPr lang="en-US" sz="900">
              <a:latin typeface="Lato Light"/>
              <a:cs typeface="Lato Light"/>
            </a:endParaRPr>
          </a:p>
        </p:txBody>
      </p:sp>
      <p:sp>
        <p:nvSpPr>
          <p:cNvPr id="51206" name="TextBox 189"/>
          <p:cNvSpPr txBox="1">
            <a:spLocks noChangeArrowheads="1"/>
          </p:cNvSpPr>
          <p:nvPr/>
        </p:nvSpPr>
        <p:spPr bwMode="auto">
          <a:xfrm>
            <a:off x="4832747" y="1099005"/>
            <a:ext cx="2993232" cy="36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it-IT" altLang="es-MX" sz="1800" dirty="0" err="1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Objective</a:t>
            </a:r>
            <a:endParaRPr lang="id-ID" altLang="es-MX" sz="1800" dirty="0">
              <a:solidFill>
                <a:srgbClr val="024654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1207" name="Rectangle 190"/>
          <p:cNvSpPr>
            <a:spLocks noChangeArrowheads="1"/>
          </p:cNvSpPr>
          <p:nvPr/>
        </p:nvSpPr>
        <p:spPr bwMode="auto">
          <a:xfrm>
            <a:off x="4832746" y="1415195"/>
            <a:ext cx="3094037" cy="30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To assess the bank's capital strength</a:t>
            </a:r>
          </a:p>
        </p:txBody>
      </p:sp>
      <p:sp>
        <p:nvSpPr>
          <p:cNvPr id="51208" name="TextBox 191"/>
          <p:cNvSpPr txBox="1">
            <a:spLocks noChangeArrowheads="1"/>
          </p:cNvSpPr>
          <p:nvPr/>
        </p:nvSpPr>
        <p:spPr bwMode="auto">
          <a:xfrm>
            <a:off x="4851988" y="2312276"/>
            <a:ext cx="2993232" cy="36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it-IT" altLang="es-MX" sz="1800" dirty="0" err="1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Authorities</a:t>
            </a:r>
            <a:endParaRPr lang="id-ID" altLang="es-MX" sz="1800" dirty="0">
              <a:solidFill>
                <a:srgbClr val="024654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1209" name="Rectangle 192"/>
          <p:cNvSpPr>
            <a:spLocks noChangeArrowheads="1"/>
          </p:cNvSpPr>
          <p:nvPr/>
        </p:nvSpPr>
        <p:spPr bwMode="auto">
          <a:xfrm>
            <a:off x="4861064" y="2659515"/>
            <a:ext cx="2984156" cy="9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They are usually carried out every two years through the cooperation of several institutions: EBA, ECB, ESRB, NCA</a:t>
            </a:r>
          </a:p>
        </p:txBody>
      </p:sp>
      <p:sp>
        <p:nvSpPr>
          <p:cNvPr id="51210" name="TextBox 193"/>
          <p:cNvSpPr txBox="1">
            <a:spLocks noChangeArrowheads="1"/>
          </p:cNvSpPr>
          <p:nvPr/>
        </p:nvSpPr>
        <p:spPr bwMode="auto">
          <a:xfrm>
            <a:off x="4891088" y="3741947"/>
            <a:ext cx="2993232" cy="36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it-IT" altLang="es-MX" sz="18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Analysis</a:t>
            </a:r>
            <a:endParaRPr lang="id-ID" altLang="es-MX" sz="1800" dirty="0">
              <a:solidFill>
                <a:srgbClr val="024654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1211" name="Rectangle 194"/>
          <p:cNvSpPr>
            <a:spLocks noChangeArrowheads="1"/>
          </p:cNvSpPr>
          <p:nvPr/>
        </p:nvSpPr>
        <p:spPr bwMode="auto">
          <a:xfrm>
            <a:off x="4891088" y="4053736"/>
            <a:ext cx="3094036" cy="9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Granular</a:t>
            </a:r>
            <a:r>
              <a:rPr lang="en-US" altLang="es-MX" sz="14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 </a:t>
            </a:r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analysis (very detailed).</a:t>
            </a:r>
          </a:p>
          <a:p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Balance sheet, profit and loss account, regulatory capital, RWA must be analyzed. </a:t>
            </a:r>
            <a:endParaRPr lang="en-US" altLang="es-MX" sz="1400" dirty="0"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1212" name="TextBox 195"/>
          <p:cNvSpPr txBox="1">
            <a:spLocks noChangeArrowheads="1"/>
          </p:cNvSpPr>
          <p:nvPr/>
        </p:nvSpPr>
        <p:spPr bwMode="auto">
          <a:xfrm>
            <a:off x="8415063" y="1099005"/>
            <a:ext cx="3511893" cy="36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it-IT" altLang="es-MX" sz="1800" dirty="0" err="1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Static</a:t>
            </a:r>
            <a:r>
              <a:rPr lang="it-IT" altLang="es-MX" sz="18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 Balance </a:t>
            </a:r>
            <a:r>
              <a:rPr lang="it-IT" altLang="es-MX" sz="1800" dirty="0" err="1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Sheets</a:t>
            </a:r>
            <a:r>
              <a:rPr lang="it-IT" altLang="es-MX" sz="18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 </a:t>
            </a:r>
            <a:r>
              <a:rPr lang="it-IT" altLang="es-MX" sz="1800" dirty="0" err="1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approach</a:t>
            </a:r>
            <a:endParaRPr lang="id-ID" altLang="es-MX" sz="1800" dirty="0">
              <a:solidFill>
                <a:srgbClr val="024654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1213" name="Rectangle 196"/>
          <p:cNvSpPr>
            <a:spLocks noChangeArrowheads="1"/>
          </p:cNvSpPr>
          <p:nvPr/>
        </p:nvSpPr>
        <p:spPr bwMode="auto">
          <a:xfrm>
            <a:off x="8431213" y="1442759"/>
            <a:ext cx="3363222" cy="523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Over the three-year simulation period,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no change</a:t>
            </a:r>
            <a:r>
              <a:rPr lang="en-US" altLang="es-MX" sz="14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 </a:t>
            </a:r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in the volume of assets</a:t>
            </a:r>
          </a:p>
        </p:txBody>
      </p:sp>
      <p:sp>
        <p:nvSpPr>
          <p:cNvPr id="51214" name="TextBox 197"/>
          <p:cNvSpPr txBox="1">
            <a:spLocks noChangeArrowheads="1"/>
          </p:cNvSpPr>
          <p:nvPr/>
        </p:nvSpPr>
        <p:spPr bwMode="auto">
          <a:xfrm>
            <a:off x="8462169" y="2312276"/>
            <a:ext cx="2994025" cy="36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it-IT" altLang="es-MX" sz="18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Bottom-up </a:t>
            </a:r>
            <a:r>
              <a:rPr lang="it-IT" altLang="es-MX" sz="1800" dirty="0" err="1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approach</a:t>
            </a:r>
            <a:endParaRPr lang="id-ID" altLang="es-MX" sz="1800" dirty="0">
              <a:solidFill>
                <a:srgbClr val="024654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1215" name="Rectangle 198"/>
          <p:cNvSpPr>
            <a:spLocks noChangeArrowheads="1"/>
          </p:cNvSpPr>
          <p:nvPr/>
        </p:nvSpPr>
        <p:spPr bwMode="auto">
          <a:xfrm>
            <a:off x="8492510" y="2688063"/>
            <a:ext cx="3094039" cy="9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The analysis starts from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more detailed </a:t>
            </a:r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levels until it reaches towards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aggregated levels </a:t>
            </a:r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to get an overall view</a:t>
            </a:r>
          </a:p>
        </p:txBody>
      </p:sp>
      <p:sp>
        <p:nvSpPr>
          <p:cNvPr id="51216" name="TextBox 199"/>
          <p:cNvSpPr txBox="1">
            <a:spLocks noChangeArrowheads="1"/>
          </p:cNvSpPr>
          <p:nvPr/>
        </p:nvSpPr>
        <p:spPr bwMode="auto">
          <a:xfrm>
            <a:off x="8531226" y="3722688"/>
            <a:ext cx="2994025" cy="36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it-IT" altLang="es-MX" sz="1800" b="1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Preliminary </a:t>
            </a:r>
            <a:r>
              <a:rPr lang="it-IT" altLang="es-MX" sz="1800" b="1" dirty="0" err="1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results</a:t>
            </a:r>
            <a:endParaRPr lang="id-ID" altLang="es-MX" sz="1800" b="1" dirty="0">
              <a:solidFill>
                <a:srgbClr val="024654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1217" name="Rectangle 200"/>
          <p:cNvSpPr>
            <a:spLocks noChangeArrowheads="1"/>
          </p:cNvSpPr>
          <p:nvPr/>
        </p:nvSpPr>
        <p:spPr bwMode="auto">
          <a:xfrm>
            <a:off x="8543374" y="4080507"/>
            <a:ext cx="3094036" cy="9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5" tIns="45723" rIns="91445" bIns="457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Feedback system resembles a traffic light:</a:t>
            </a:r>
            <a:r>
              <a:rPr lang="en-US" altLang="es-MX" sz="14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 </a:t>
            </a:r>
            <a:r>
              <a:rPr lang="en-US" altLang="es-MX" sz="1400" dirty="0">
                <a:solidFill>
                  <a:srgbClr val="00B05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green=clear</a:t>
            </a:r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, </a:t>
            </a:r>
            <a:r>
              <a:rPr lang="en-US" altLang="es-MX" sz="1400" dirty="0">
                <a:solidFill>
                  <a:srgbClr val="FFC0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yellow=required further clarification</a:t>
            </a:r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, </a:t>
            </a:r>
            <a:r>
              <a:rPr lang="en-US" altLang="es-MX" sz="1400" dirty="0">
                <a:solidFill>
                  <a:srgbClr val="F93B27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red=returned to sender for further processing</a:t>
            </a:r>
            <a:r>
              <a:rPr lang="en-US" altLang="es-MX" sz="14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202" name="Freeform 55"/>
          <p:cNvSpPr>
            <a:spLocks noEditPoints="1"/>
          </p:cNvSpPr>
          <p:nvPr/>
        </p:nvSpPr>
        <p:spPr bwMode="auto">
          <a:xfrm>
            <a:off x="8038399" y="1172495"/>
            <a:ext cx="406400" cy="304006"/>
          </a:xfrm>
          <a:custGeom>
            <a:avLst/>
            <a:gdLst/>
            <a:ahLst/>
            <a:cxnLst>
              <a:cxn ang="0">
                <a:pos x="19" y="42"/>
              </a:cxn>
              <a:cxn ang="0">
                <a:pos x="17" y="42"/>
              </a:cxn>
              <a:cxn ang="0">
                <a:pos x="1" y="25"/>
              </a:cxn>
              <a:cxn ang="0">
                <a:pos x="1" y="24"/>
              </a:cxn>
              <a:cxn ang="0">
                <a:pos x="17" y="7"/>
              </a:cxn>
              <a:cxn ang="0">
                <a:pos x="19" y="7"/>
              </a:cxn>
              <a:cxn ang="0">
                <a:pos x="21" y="9"/>
              </a:cxn>
              <a:cxn ang="0">
                <a:pos x="21" y="11"/>
              </a:cxn>
              <a:cxn ang="0">
                <a:pos x="7" y="25"/>
              </a:cxn>
              <a:cxn ang="0">
                <a:pos x="21" y="39"/>
              </a:cxn>
              <a:cxn ang="0">
                <a:pos x="21" y="40"/>
              </a:cxn>
              <a:cxn ang="0">
                <a:pos x="19" y="42"/>
              </a:cxn>
              <a:cxn ang="0">
                <a:pos x="29" y="48"/>
              </a:cxn>
              <a:cxn ang="0">
                <a:pos x="27" y="49"/>
              </a:cxn>
              <a:cxn ang="0">
                <a:pos x="25" y="48"/>
              </a:cxn>
              <a:cxn ang="0">
                <a:pos x="24" y="47"/>
              </a:cxn>
              <a:cxn ang="0">
                <a:pos x="38" y="1"/>
              </a:cxn>
              <a:cxn ang="0">
                <a:pos x="39" y="0"/>
              </a:cxn>
              <a:cxn ang="0">
                <a:pos x="41" y="1"/>
              </a:cxn>
              <a:cxn ang="0">
                <a:pos x="42" y="2"/>
              </a:cxn>
              <a:cxn ang="0">
                <a:pos x="29" y="48"/>
              </a:cxn>
              <a:cxn ang="0">
                <a:pos x="49" y="42"/>
              </a:cxn>
              <a:cxn ang="0">
                <a:pos x="47" y="42"/>
              </a:cxn>
              <a:cxn ang="0">
                <a:pos x="45" y="40"/>
              </a:cxn>
              <a:cxn ang="0">
                <a:pos x="45" y="39"/>
              </a:cxn>
              <a:cxn ang="0">
                <a:pos x="59" y="25"/>
              </a:cxn>
              <a:cxn ang="0">
                <a:pos x="45" y="11"/>
              </a:cxn>
              <a:cxn ang="0">
                <a:pos x="45" y="9"/>
              </a:cxn>
              <a:cxn ang="0">
                <a:pos x="47" y="7"/>
              </a:cxn>
              <a:cxn ang="0">
                <a:pos x="49" y="7"/>
              </a:cxn>
              <a:cxn ang="0">
                <a:pos x="65" y="24"/>
              </a:cxn>
              <a:cxn ang="0">
                <a:pos x="65" y="25"/>
              </a:cxn>
              <a:cxn ang="0">
                <a:pos x="49" y="42"/>
              </a:cxn>
            </a:cxnLst>
            <a:rect l="0" t="0" r="r" b="b"/>
            <a:pathLst>
              <a:path w="66" h="49">
                <a:moveTo>
                  <a:pt x="19" y="42"/>
                </a:moveTo>
                <a:cubicBezTo>
                  <a:pt x="19" y="43"/>
                  <a:pt x="18" y="43"/>
                  <a:pt x="17" y="42"/>
                </a:cubicBezTo>
                <a:cubicBezTo>
                  <a:pt x="1" y="25"/>
                  <a:pt x="1" y="25"/>
                  <a:pt x="1" y="25"/>
                </a:cubicBezTo>
                <a:cubicBezTo>
                  <a:pt x="0" y="25"/>
                  <a:pt x="0" y="24"/>
                  <a:pt x="1" y="24"/>
                </a:cubicBezTo>
                <a:cubicBezTo>
                  <a:pt x="17" y="7"/>
                  <a:pt x="17" y="7"/>
                  <a:pt x="17" y="7"/>
                </a:cubicBezTo>
                <a:cubicBezTo>
                  <a:pt x="18" y="7"/>
                  <a:pt x="19" y="7"/>
                  <a:pt x="19" y="7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10"/>
                  <a:pt x="21" y="11"/>
                </a:cubicBezTo>
                <a:cubicBezTo>
                  <a:pt x="7" y="25"/>
                  <a:pt x="7" y="25"/>
                  <a:pt x="7" y="25"/>
                </a:cubicBezTo>
                <a:cubicBezTo>
                  <a:pt x="21" y="39"/>
                  <a:pt x="21" y="39"/>
                  <a:pt x="21" y="39"/>
                </a:cubicBezTo>
                <a:cubicBezTo>
                  <a:pt x="21" y="39"/>
                  <a:pt x="21" y="40"/>
                  <a:pt x="21" y="40"/>
                </a:cubicBezTo>
                <a:lnTo>
                  <a:pt x="19" y="42"/>
                </a:lnTo>
                <a:close/>
                <a:moveTo>
                  <a:pt x="29" y="48"/>
                </a:moveTo>
                <a:cubicBezTo>
                  <a:pt x="28" y="49"/>
                  <a:pt x="28" y="49"/>
                  <a:pt x="27" y="49"/>
                </a:cubicBezTo>
                <a:cubicBezTo>
                  <a:pt x="25" y="48"/>
                  <a:pt x="25" y="48"/>
                  <a:pt x="25" y="48"/>
                </a:cubicBezTo>
                <a:cubicBezTo>
                  <a:pt x="24" y="48"/>
                  <a:pt x="24" y="48"/>
                  <a:pt x="24" y="47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0"/>
                  <a:pt x="38" y="0"/>
                  <a:pt x="39" y="0"/>
                </a:cubicBezTo>
                <a:cubicBezTo>
                  <a:pt x="41" y="1"/>
                  <a:pt x="41" y="1"/>
                  <a:pt x="41" y="1"/>
                </a:cubicBezTo>
                <a:cubicBezTo>
                  <a:pt x="42" y="1"/>
                  <a:pt x="42" y="2"/>
                  <a:pt x="42" y="2"/>
                </a:cubicBezTo>
                <a:lnTo>
                  <a:pt x="29" y="48"/>
                </a:lnTo>
                <a:close/>
                <a:moveTo>
                  <a:pt x="49" y="42"/>
                </a:moveTo>
                <a:cubicBezTo>
                  <a:pt x="48" y="43"/>
                  <a:pt x="48" y="43"/>
                  <a:pt x="47" y="42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40"/>
                  <a:pt x="45" y="39"/>
                  <a:pt x="45" y="39"/>
                </a:cubicBezTo>
                <a:cubicBezTo>
                  <a:pt x="59" y="25"/>
                  <a:pt x="59" y="25"/>
                  <a:pt x="59" y="25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0"/>
                  <a:pt x="45" y="9"/>
                  <a:pt x="45" y="9"/>
                </a:cubicBezTo>
                <a:cubicBezTo>
                  <a:pt x="47" y="7"/>
                  <a:pt x="47" y="7"/>
                  <a:pt x="47" y="7"/>
                </a:cubicBezTo>
                <a:cubicBezTo>
                  <a:pt x="48" y="7"/>
                  <a:pt x="48" y="7"/>
                  <a:pt x="49" y="7"/>
                </a:cubicBezTo>
                <a:cubicBezTo>
                  <a:pt x="65" y="24"/>
                  <a:pt x="65" y="24"/>
                  <a:pt x="65" y="24"/>
                </a:cubicBezTo>
                <a:cubicBezTo>
                  <a:pt x="66" y="24"/>
                  <a:pt x="66" y="25"/>
                  <a:pt x="65" y="25"/>
                </a:cubicBezTo>
                <a:lnTo>
                  <a:pt x="49" y="4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defTabSz="914217">
              <a:defRPr/>
            </a:pPr>
            <a:endParaRPr lang="en-US" sz="900">
              <a:latin typeface="Lato Light"/>
              <a:cs typeface="Lato Light"/>
            </a:endParaRPr>
          </a:p>
        </p:txBody>
      </p:sp>
      <p:sp>
        <p:nvSpPr>
          <p:cNvPr id="203" name="Freeform 54"/>
          <p:cNvSpPr>
            <a:spLocks noEditPoints="1"/>
          </p:cNvSpPr>
          <p:nvPr/>
        </p:nvSpPr>
        <p:spPr bwMode="auto">
          <a:xfrm>
            <a:off x="8059708" y="2323274"/>
            <a:ext cx="385763" cy="285750"/>
          </a:xfrm>
          <a:custGeom>
            <a:avLst/>
            <a:gdLst/>
            <a:ahLst/>
            <a:cxnLst>
              <a:cxn ang="0">
                <a:pos x="55" y="50"/>
              </a:cxn>
              <a:cxn ang="0">
                <a:pos x="16" y="50"/>
              </a:cxn>
              <a:cxn ang="0">
                <a:pos x="0" y="34"/>
              </a:cxn>
              <a:cxn ang="0">
                <a:pos x="9" y="20"/>
              </a:cxn>
              <a:cxn ang="0">
                <a:pos x="9" y="18"/>
              </a:cxn>
              <a:cxn ang="0">
                <a:pos x="27" y="0"/>
              </a:cxn>
              <a:cxn ang="0">
                <a:pos x="44" y="11"/>
              </a:cxn>
              <a:cxn ang="0">
                <a:pos x="50" y="9"/>
              </a:cxn>
              <a:cxn ang="0">
                <a:pos x="59" y="18"/>
              </a:cxn>
              <a:cxn ang="0">
                <a:pos x="58" y="23"/>
              </a:cxn>
              <a:cxn ang="0">
                <a:pos x="68" y="36"/>
              </a:cxn>
              <a:cxn ang="0">
                <a:pos x="55" y="50"/>
              </a:cxn>
              <a:cxn ang="0">
                <a:pos x="45" y="25"/>
              </a:cxn>
              <a:cxn ang="0">
                <a:pos x="33" y="13"/>
              </a:cxn>
              <a:cxn ang="0">
                <a:pos x="32" y="12"/>
              </a:cxn>
              <a:cxn ang="0">
                <a:pos x="31" y="13"/>
              </a:cxn>
              <a:cxn ang="0">
                <a:pos x="18" y="25"/>
              </a:cxn>
              <a:cxn ang="0">
                <a:pos x="18" y="26"/>
              </a:cxn>
              <a:cxn ang="0">
                <a:pos x="19" y="27"/>
              </a:cxn>
              <a:cxn ang="0">
                <a:pos x="27" y="27"/>
              </a:cxn>
              <a:cxn ang="0">
                <a:pos x="27" y="40"/>
              </a:cxn>
              <a:cxn ang="0">
                <a:pos x="28" y="41"/>
              </a:cxn>
              <a:cxn ang="0">
                <a:pos x="35" y="41"/>
              </a:cxn>
              <a:cxn ang="0">
                <a:pos x="36" y="40"/>
              </a:cxn>
              <a:cxn ang="0">
                <a:pos x="36" y="27"/>
              </a:cxn>
              <a:cxn ang="0">
                <a:pos x="44" y="27"/>
              </a:cxn>
              <a:cxn ang="0">
                <a:pos x="45" y="26"/>
              </a:cxn>
              <a:cxn ang="0">
                <a:pos x="45" y="25"/>
              </a:cxn>
            </a:cxnLst>
            <a:rect l="0" t="0" r="r" b="b"/>
            <a:pathLst>
              <a:path w="68" h="50">
                <a:moveTo>
                  <a:pt x="55" y="50"/>
                </a:moveTo>
                <a:cubicBezTo>
                  <a:pt x="16" y="50"/>
                  <a:pt x="16" y="50"/>
                  <a:pt x="16" y="50"/>
                </a:cubicBezTo>
                <a:cubicBezTo>
                  <a:pt x="7" y="50"/>
                  <a:pt x="0" y="43"/>
                  <a:pt x="0" y="34"/>
                </a:cubicBezTo>
                <a:cubicBezTo>
                  <a:pt x="0" y="28"/>
                  <a:pt x="3" y="22"/>
                  <a:pt x="9" y="20"/>
                </a:cubicBezTo>
                <a:cubicBezTo>
                  <a:pt x="9" y="19"/>
                  <a:pt x="9" y="19"/>
                  <a:pt x="9" y="18"/>
                </a:cubicBezTo>
                <a:cubicBezTo>
                  <a:pt x="9" y="8"/>
                  <a:pt x="17" y="0"/>
                  <a:pt x="27" y="0"/>
                </a:cubicBezTo>
                <a:cubicBezTo>
                  <a:pt x="35" y="0"/>
                  <a:pt x="41" y="4"/>
                  <a:pt x="44" y="11"/>
                </a:cubicBezTo>
                <a:cubicBezTo>
                  <a:pt x="46" y="10"/>
                  <a:pt x="48" y="9"/>
                  <a:pt x="50" y="9"/>
                </a:cubicBezTo>
                <a:cubicBezTo>
                  <a:pt x="55" y="9"/>
                  <a:pt x="59" y="13"/>
                  <a:pt x="59" y="18"/>
                </a:cubicBezTo>
                <a:cubicBezTo>
                  <a:pt x="59" y="20"/>
                  <a:pt x="59" y="22"/>
                  <a:pt x="58" y="23"/>
                </a:cubicBezTo>
                <a:cubicBezTo>
                  <a:pt x="64" y="25"/>
                  <a:pt x="68" y="30"/>
                  <a:pt x="68" y="36"/>
                </a:cubicBezTo>
                <a:cubicBezTo>
                  <a:pt x="68" y="44"/>
                  <a:pt x="62" y="50"/>
                  <a:pt x="55" y="50"/>
                </a:cubicBezTo>
                <a:close/>
                <a:moveTo>
                  <a:pt x="45" y="25"/>
                </a:moveTo>
                <a:cubicBezTo>
                  <a:pt x="33" y="13"/>
                  <a:pt x="33" y="13"/>
                  <a:pt x="33" y="13"/>
                </a:cubicBezTo>
                <a:cubicBezTo>
                  <a:pt x="32" y="13"/>
                  <a:pt x="32" y="12"/>
                  <a:pt x="32" y="12"/>
                </a:cubicBezTo>
                <a:cubicBezTo>
                  <a:pt x="31" y="12"/>
                  <a:pt x="31" y="13"/>
                  <a:pt x="31" y="13"/>
                </a:cubicBezTo>
                <a:cubicBezTo>
                  <a:pt x="18" y="25"/>
                  <a:pt x="18" y="25"/>
                  <a:pt x="18" y="25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7"/>
                  <a:pt x="19" y="27"/>
                  <a:pt x="19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40"/>
                  <a:pt x="27" y="40"/>
                  <a:pt x="27" y="40"/>
                </a:cubicBezTo>
                <a:cubicBezTo>
                  <a:pt x="27" y="41"/>
                  <a:pt x="28" y="41"/>
                  <a:pt x="28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1"/>
                  <a:pt x="36" y="40"/>
                </a:cubicBezTo>
                <a:cubicBezTo>
                  <a:pt x="36" y="27"/>
                  <a:pt x="36" y="27"/>
                  <a:pt x="36" y="27"/>
                </a:cubicBezTo>
                <a:cubicBezTo>
                  <a:pt x="44" y="27"/>
                  <a:pt x="44" y="27"/>
                  <a:pt x="44" y="27"/>
                </a:cubicBezTo>
                <a:cubicBezTo>
                  <a:pt x="45" y="27"/>
                  <a:pt x="45" y="27"/>
                  <a:pt x="45" y="26"/>
                </a:cubicBezTo>
                <a:cubicBezTo>
                  <a:pt x="45" y="26"/>
                  <a:pt x="45" y="26"/>
                  <a:pt x="45" y="25"/>
                </a:cubicBezTo>
                <a:close/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defTabSz="914217">
              <a:defRPr/>
            </a:pPr>
            <a:endParaRPr lang="en-US" sz="900">
              <a:latin typeface="Lato Light"/>
              <a:cs typeface="Lato Ligh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201EC35-52BF-445B-B4A1-4348288D0A7D}"/>
              </a:ext>
            </a:extLst>
          </p:cNvPr>
          <p:cNvSpPr txBox="1"/>
          <p:nvPr/>
        </p:nvSpPr>
        <p:spPr>
          <a:xfrm>
            <a:off x="658148" y="2299503"/>
            <a:ext cx="30940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Main</a:t>
            </a:r>
            <a:r>
              <a:rPr lang="en-US" sz="2800" b="1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 features </a:t>
            </a:r>
          </a:p>
          <a:p>
            <a:r>
              <a:rPr lang="en-US" sz="2800" b="1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of </a:t>
            </a:r>
          </a:p>
          <a:p>
            <a:r>
              <a:rPr lang="en-US" sz="2800" b="1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EBA stress tests: 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AB4674-882B-4216-8F07-E723E52B2CDB}"/>
              </a:ext>
            </a:extLst>
          </p:cNvPr>
          <p:cNvSpPr/>
          <p:nvPr/>
        </p:nvSpPr>
        <p:spPr>
          <a:xfrm>
            <a:off x="-15299" y="5314155"/>
            <a:ext cx="12207299" cy="1526915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281121F-4509-42A7-AD37-DC88EBF77DB1}"/>
              </a:ext>
            </a:extLst>
          </p:cNvPr>
          <p:cNvSpPr txBox="1"/>
          <p:nvPr/>
        </p:nvSpPr>
        <p:spPr>
          <a:xfrm>
            <a:off x="818657" y="5584565"/>
            <a:ext cx="105806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/>
            <a:r>
              <a:rPr lang="en-US" altLang="es-MX" sz="1800" b="1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The </a:t>
            </a:r>
            <a:r>
              <a:rPr lang="en-US" altLang="es-MX" sz="1800" b="1" dirty="0">
                <a:solidFill>
                  <a:srgbClr val="F93B27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EU-wide stress </a:t>
            </a:r>
            <a:r>
              <a:rPr lang="en-US" altLang="es-MX" sz="1800" b="1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test provides a shared analytical substrate, allowing supervisors, banking institutions and other market participants to uniformly outline and assess the robustness of EU banks in the face of adverse market developments and shocks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7E70C102-00F3-3C9D-0FCE-D9117A91DE0D}"/>
              </a:ext>
            </a:extLst>
          </p:cNvPr>
          <p:cNvSpPr/>
          <p:nvPr/>
        </p:nvSpPr>
        <p:spPr>
          <a:xfrm>
            <a:off x="4493865" y="2303581"/>
            <a:ext cx="357186" cy="384482"/>
          </a:xfrm>
          <a:prstGeom prst="roundRect">
            <a:avLst/>
          </a:prstGeom>
          <a:solidFill>
            <a:srgbClr val="FF7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69438324-5130-63C7-2575-BEF1244814DD}"/>
              </a:ext>
            </a:extLst>
          </p:cNvPr>
          <p:cNvSpPr/>
          <p:nvPr/>
        </p:nvSpPr>
        <p:spPr>
          <a:xfrm>
            <a:off x="8096491" y="3780217"/>
            <a:ext cx="389558" cy="38448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D16E326-A4C7-0153-8516-A114D215B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083" y="2340552"/>
            <a:ext cx="325664" cy="28495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FD5BBC4-9DFE-BD44-751D-1A5384C5E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686" y="3801755"/>
            <a:ext cx="335309" cy="341406"/>
          </a:xfrm>
          <a:prstGeom prst="rect">
            <a:avLst/>
          </a:prstGeom>
        </p:spPr>
      </p:pic>
      <p:sp>
        <p:nvSpPr>
          <p:cNvPr id="13" name="Rectángulo 3">
            <a:extLst>
              <a:ext uri="{FF2B5EF4-FFF2-40B4-BE49-F238E27FC236}">
                <a16:creationId xmlns:a16="http://schemas.microsoft.com/office/drawing/2014/main" id="{30570815-0327-BB7C-75DB-BB99D7CBB36B}"/>
              </a:ext>
            </a:extLst>
          </p:cNvPr>
          <p:cNvSpPr/>
          <p:nvPr/>
        </p:nvSpPr>
        <p:spPr>
          <a:xfrm>
            <a:off x="-15299" y="0"/>
            <a:ext cx="12207299" cy="826941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nimBg="1"/>
      <p:bldP spid="189" grpId="0" animBg="1"/>
      <p:bldP spid="51206" grpId="0"/>
      <p:bldP spid="51207" grpId="0"/>
      <p:bldP spid="51209" grpId="0"/>
      <p:bldP spid="51210" grpId="0"/>
      <p:bldP spid="51211" grpId="0"/>
      <p:bldP spid="51212" grpId="0"/>
      <p:bldP spid="51213" grpId="0"/>
      <p:bldP spid="51214" grpId="0"/>
      <p:bldP spid="51215" grpId="0"/>
      <p:bldP spid="51216" grpId="0"/>
      <p:bldP spid="51217" grpId="0"/>
      <p:bldP spid="202" grpId="0" animBg="1"/>
      <p:bldP spid="203" grpId="0" animBg="1"/>
      <p:bldP spid="3" grpId="0"/>
      <p:bldP spid="5" grpId="0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0" name="TextBox 37"/>
          <p:cNvSpPr txBox="1">
            <a:spLocks noChangeArrowheads="1"/>
          </p:cNvSpPr>
          <p:nvPr/>
        </p:nvSpPr>
        <p:spPr bwMode="auto">
          <a:xfrm>
            <a:off x="7872002" y="1384414"/>
            <a:ext cx="3474415" cy="69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es-MX" sz="1800" b="1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IFRS 9, which replaces IAS 39</a:t>
            </a:r>
          </a:p>
        </p:txBody>
      </p:sp>
      <p:sp>
        <p:nvSpPr>
          <p:cNvPr id="52232" name="TextBox 42"/>
          <p:cNvSpPr txBox="1">
            <a:spLocks noChangeArrowheads="1"/>
          </p:cNvSpPr>
          <p:nvPr/>
        </p:nvSpPr>
        <p:spPr bwMode="auto">
          <a:xfrm>
            <a:off x="7979907" y="2759136"/>
            <a:ext cx="3128169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es-MX" sz="1800" b="1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Public guarantee schemes</a:t>
            </a:r>
          </a:p>
        </p:txBody>
      </p:sp>
      <p:sp>
        <p:nvSpPr>
          <p:cNvPr id="52233" name="TextBox 46"/>
          <p:cNvSpPr txBox="1">
            <a:spLocks noChangeArrowheads="1"/>
          </p:cNvSpPr>
          <p:nvPr/>
        </p:nvSpPr>
        <p:spPr bwMode="auto">
          <a:xfrm>
            <a:off x="7691263" y="4196148"/>
            <a:ext cx="3989443" cy="782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endParaRPr lang="en-US" altLang="es-MX" sz="1200" dirty="0">
              <a:solidFill>
                <a:srgbClr val="FFFFFF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2235" name="TextBox 48"/>
          <p:cNvSpPr txBox="1">
            <a:spLocks noChangeArrowheads="1"/>
          </p:cNvSpPr>
          <p:nvPr/>
        </p:nvSpPr>
        <p:spPr bwMode="auto">
          <a:xfrm>
            <a:off x="7691263" y="5669093"/>
            <a:ext cx="3989443" cy="690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endParaRPr lang="en-US" altLang="es-MX" sz="1200" dirty="0">
              <a:solidFill>
                <a:srgbClr val="FFFFFF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2236" name="TextBox 49"/>
          <p:cNvSpPr txBox="1">
            <a:spLocks noChangeArrowheads="1"/>
          </p:cNvSpPr>
          <p:nvPr/>
        </p:nvSpPr>
        <p:spPr bwMode="auto">
          <a:xfrm>
            <a:off x="7564137" y="5617483"/>
            <a:ext cx="3575907" cy="690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es-MX" sz="1800" b="1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FX variations</a:t>
            </a:r>
          </a:p>
        </p:txBody>
      </p:sp>
      <p:sp>
        <p:nvSpPr>
          <p:cNvPr id="52238" name="TextBox 51"/>
          <p:cNvSpPr txBox="1">
            <a:spLocks noChangeArrowheads="1"/>
          </p:cNvSpPr>
          <p:nvPr/>
        </p:nvSpPr>
        <p:spPr bwMode="auto">
          <a:xfrm>
            <a:off x="6875845" y="2532717"/>
            <a:ext cx="996157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endParaRPr lang="en-US" altLang="es-MX" sz="2400" dirty="0">
              <a:solidFill>
                <a:srgbClr val="FFFFF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2240" name="TextBox 53"/>
          <p:cNvSpPr txBox="1">
            <a:spLocks noChangeArrowheads="1"/>
          </p:cNvSpPr>
          <p:nvPr/>
        </p:nvSpPr>
        <p:spPr bwMode="auto">
          <a:xfrm>
            <a:off x="6807028" y="4637087"/>
            <a:ext cx="996157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endParaRPr lang="en-US" altLang="es-MX" sz="2400" dirty="0">
              <a:solidFill>
                <a:srgbClr val="FFFFF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hape 188">
            <a:extLst>
              <a:ext uri="{FF2B5EF4-FFF2-40B4-BE49-F238E27FC236}">
                <a16:creationId xmlns:a16="http://schemas.microsoft.com/office/drawing/2014/main" id="{5A416C8B-537E-42FD-875B-B2486E4BE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588" y="921257"/>
            <a:ext cx="5758471" cy="279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584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584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584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584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584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584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584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584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584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just" eaLnBrk="0" hangingPunct="0"/>
            <a:endParaRPr lang="en-US" altLang="es-MX" sz="1400" dirty="0"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s-MX" sz="16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Banks participating: a sample of </a:t>
            </a:r>
            <a:r>
              <a:rPr lang="en-US" altLang="es-MX" sz="16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48 banks </a:t>
            </a:r>
            <a:r>
              <a:rPr lang="en-US" altLang="es-MX" sz="16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in 15 countries in the European Union (EU) and European Economic Area (EEA) at the highest level of consolidation.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endParaRPr lang="en-US" altLang="es-MX" sz="1600" dirty="0"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s-MX" sz="16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The main </a:t>
            </a:r>
            <a:r>
              <a:rPr lang="en-US" altLang="es-MX" sz="16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methodological change </a:t>
            </a:r>
            <a:r>
              <a:rPr lang="en-US" altLang="es-MX" sz="16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is the new expected credit losses (ECL) impairment model, which moves away from the previously ‘incurred loss’ model in IAS 39.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endParaRPr lang="en-US" altLang="es-MX" sz="1600" dirty="0"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s-MX" sz="16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The main feature of the 2018 exercise is the implementation of </a:t>
            </a:r>
            <a:r>
              <a:rPr lang="en-US" altLang="es-MX" sz="16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IFRS 9, which replaces IAS 39</a:t>
            </a:r>
            <a:endParaRPr lang="en-US" altLang="es-MX" sz="1600" dirty="0"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  <a:p>
            <a:pPr marL="285750" indent="-285750" algn="just" eaLnBrk="0" hangingPunct="0">
              <a:buFont typeface="Arial" panose="020B0604020202020204" pitchFamily="34" charset="0"/>
              <a:buChar char="•"/>
            </a:pPr>
            <a:endParaRPr lang="en-US" altLang="es-MX" sz="1400" dirty="0"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  <a:p>
            <a:pPr marL="285750" indent="-285750" algn="just" eaLnBrk="0" hangingPunct="0">
              <a:buFont typeface="Arial" panose="020B0604020202020204" pitchFamily="34" charset="0"/>
              <a:buChar char="•"/>
            </a:pPr>
            <a:endParaRPr lang="en-US" altLang="es-MX" sz="1400" dirty="0"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  <a:p>
            <a:pPr marL="285750" indent="-285750" algn="just" eaLnBrk="0" hangingPunct="0">
              <a:buFont typeface="Arial" panose="020B0604020202020204" pitchFamily="34" charset="0"/>
              <a:buChar char="•"/>
            </a:pPr>
            <a:endParaRPr lang="en-US" altLang="es-MX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198">
            <a:extLst>
              <a:ext uri="{FF2B5EF4-FFF2-40B4-BE49-F238E27FC236}">
                <a16:creationId xmlns:a16="http://schemas.microsoft.com/office/drawing/2014/main" id="{79C8A37F-ECF0-4ACF-B402-6FC4EB293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588" y="318002"/>
            <a:ext cx="5484315" cy="49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s-MX" sz="24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EBA Stress Test </a:t>
            </a:r>
            <a:r>
              <a:rPr lang="en-US" altLang="es-MX" sz="2400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2018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5B45D10-F833-0036-2336-CB4279D3B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848" y="4211804"/>
            <a:ext cx="506322" cy="58054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DF82484-E220-8685-6F8C-C5D791813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41" y="2792290"/>
            <a:ext cx="510129" cy="51012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B8410F6-A216-DEC3-4E18-D6C51CA46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41" y="5606833"/>
            <a:ext cx="510129" cy="61118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357FF3F-79D6-2CF5-E55A-9AD2E5740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371" y="1378007"/>
            <a:ext cx="509799" cy="554194"/>
          </a:xfrm>
          <a:prstGeom prst="rect">
            <a:avLst/>
          </a:prstGeom>
        </p:spPr>
      </p:pic>
      <p:sp>
        <p:nvSpPr>
          <p:cNvPr id="2" name="Rectángulo 5">
            <a:extLst>
              <a:ext uri="{FF2B5EF4-FFF2-40B4-BE49-F238E27FC236}">
                <a16:creationId xmlns:a16="http://schemas.microsoft.com/office/drawing/2014/main" id="{3FEB3CC6-4C5B-16FC-F134-6FB45B6E00EE}"/>
              </a:ext>
            </a:extLst>
          </p:cNvPr>
          <p:cNvSpPr/>
          <p:nvPr/>
        </p:nvSpPr>
        <p:spPr>
          <a:xfrm>
            <a:off x="6496335" y="0"/>
            <a:ext cx="5695666" cy="6857999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Immagine 9" descr="Immagine che contiene testo, cielo, edificio, aria aperta">
            <a:extLst>
              <a:ext uri="{FF2B5EF4-FFF2-40B4-BE49-F238E27FC236}">
                <a16:creationId xmlns:a16="http://schemas.microsoft.com/office/drawing/2014/main" id="{33D47A1B-4A20-5740-5F71-CBF4B854D9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336" y="0"/>
            <a:ext cx="5695664" cy="68579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FE5DB2C6-4285-4AA1-8719-022DCE196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021" y="3719202"/>
            <a:ext cx="5145443" cy="282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2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EAB4674-882B-4216-8F07-E723E52B2CDB}"/>
              </a:ext>
            </a:extLst>
          </p:cNvPr>
          <p:cNvSpPr/>
          <p:nvPr/>
        </p:nvSpPr>
        <p:spPr>
          <a:xfrm>
            <a:off x="-15299" y="0"/>
            <a:ext cx="12207299" cy="1526915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2CBD315-02A2-4E0D-916D-29877A3A4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50" y="2403233"/>
            <a:ext cx="12192000" cy="232851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EB07CFE-B83E-E31C-373F-64BBBB3671E1}"/>
              </a:ext>
            </a:extLst>
          </p:cNvPr>
          <p:cNvSpPr txBox="1"/>
          <p:nvPr/>
        </p:nvSpPr>
        <p:spPr>
          <a:xfrm>
            <a:off x="292695" y="5115735"/>
            <a:ext cx="278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e Gothic Next Heavy" panose="020B0903040303020004" pitchFamily="34" charset="0"/>
              </a:rPr>
              <a:t>Cumulative fall in GDP over 3 years by 2.7%</a:t>
            </a:r>
            <a:endParaRPr lang="it-IT" dirty="0">
              <a:latin typeface="Trade Gothic Next Heavy" panose="020B09030403030200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154BA0A-2169-686C-53FB-3946F3CA0584}"/>
              </a:ext>
            </a:extLst>
          </p:cNvPr>
          <p:cNvSpPr txBox="1"/>
          <p:nvPr/>
        </p:nvSpPr>
        <p:spPr>
          <a:xfrm>
            <a:off x="3226738" y="5115735"/>
            <a:ext cx="2549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ade Gothic Next Heavy" panose="020B0903040303020004" pitchFamily="34" charset="0"/>
              </a:rPr>
              <a:t>Unemployment reaches in 2020 9.7%</a:t>
            </a:r>
            <a:endParaRPr lang="it-IT" dirty="0">
              <a:latin typeface="Trade Gothic Next Heavy" panose="020B09030403030200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D96A7AE-BD1D-B2BC-85A8-6AE6F9F1293F}"/>
              </a:ext>
            </a:extLst>
          </p:cNvPr>
          <p:cNvSpPr txBox="1"/>
          <p:nvPr/>
        </p:nvSpPr>
        <p:spPr>
          <a:xfrm>
            <a:off x="6074532" y="5115735"/>
            <a:ext cx="2549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ade Gothic Next Heavy" panose="020B0903040303020004" pitchFamily="34" charset="0"/>
              </a:rPr>
              <a:t>Cumulative inflation over 3 years stands at 1.7%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A5B3A1E-B764-FF1D-ACF9-5619C788AB7B}"/>
              </a:ext>
            </a:extLst>
          </p:cNvPr>
          <p:cNvSpPr txBox="1"/>
          <p:nvPr/>
        </p:nvSpPr>
        <p:spPr>
          <a:xfrm>
            <a:off x="8773047" y="5115735"/>
            <a:ext cx="3269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ade Gothic Next Heavy" panose="020B0903040303020004" pitchFamily="34" charset="0"/>
              </a:rPr>
              <a:t>Cumulative fall in residential and commercial real estate prices over 3 years of 19.1% and  20% respectively</a:t>
            </a:r>
            <a:endParaRPr lang="it-IT" dirty="0">
              <a:latin typeface="Trade Gothic Next Heavy" panose="020B0903040303020004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9F5F5AA-D5D0-ECCF-F04D-5C18FC8FDCD7}"/>
              </a:ext>
            </a:extLst>
          </p:cNvPr>
          <p:cNvSpPr txBox="1"/>
          <p:nvPr/>
        </p:nvSpPr>
        <p:spPr>
          <a:xfrm>
            <a:off x="2184033" y="2003123"/>
            <a:ext cx="8385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e Gothic Next Heavy" panose="020B0903040303020004" pitchFamily="34" charset="0"/>
              </a:rPr>
              <a:t>The most important shocks of the EU adverse scenario would lead to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e Gothic Next Heavy" panose="020B0903040303020004" pitchFamily="34" charset="0"/>
              </a:rPr>
              <a:t>:</a:t>
            </a:r>
          </a:p>
        </p:txBody>
      </p:sp>
      <p:sp>
        <p:nvSpPr>
          <p:cNvPr id="16" name="CuadroTexto 2">
            <a:extLst>
              <a:ext uri="{FF2B5EF4-FFF2-40B4-BE49-F238E27FC236}">
                <a16:creationId xmlns:a16="http://schemas.microsoft.com/office/drawing/2014/main" id="{8C386B60-C02E-3273-D4D0-F4B6A892D596}"/>
              </a:ext>
            </a:extLst>
          </p:cNvPr>
          <p:cNvSpPr txBox="1"/>
          <p:nvPr/>
        </p:nvSpPr>
        <p:spPr>
          <a:xfrm>
            <a:off x="3838731" y="471069"/>
            <a:ext cx="45145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s-MX" sz="3200" b="1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Adverse Scenario 2018</a:t>
            </a:r>
            <a:endParaRPr kumimoji="0" lang="en-US" altLang="es-MX" sz="3200" b="1" i="0" u="none" strike="noStrike" kern="1200" cap="none" spc="0" normalizeH="0" baseline="0" noProof="0" dirty="0">
              <a:ln>
                <a:noFill/>
              </a:ln>
              <a:solidFill>
                <a:srgbClr val="FF7300"/>
              </a:solidFill>
              <a:effectLst/>
              <a:uLnTx/>
              <a:uFillTx/>
              <a:latin typeface="Trade Gothic Next Heavy" panose="020B0903040303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06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  <p:bldP spid="1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BCE77EF-21A3-407A-8088-CA1BC7A6AAD1}"/>
              </a:ext>
            </a:extLst>
          </p:cNvPr>
          <p:cNvSpPr/>
          <p:nvPr/>
        </p:nvSpPr>
        <p:spPr>
          <a:xfrm>
            <a:off x="0" y="1"/>
            <a:ext cx="6092825" cy="6857999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094413" y="0"/>
            <a:ext cx="6092825" cy="6858000"/>
          </a:xfrm>
          <a:prstGeom prst="rect">
            <a:avLst/>
          </a:prstGeom>
          <a:solidFill>
            <a:srgbClr val="F1EFE7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endParaRPr lang="en-US" sz="900">
              <a:latin typeface="Lato Regular"/>
              <a:cs typeface="Lato Regular"/>
            </a:endParaRPr>
          </a:p>
        </p:txBody>
      </p:sp>
      <p:sp>
        <p:nvSpPr>
          <p:cNvPr id="31749" name="TextBox 6"/>
          <p:cNvSpPr txBox="1">
            <a:spLocks noChangeArrowheads="1"/>
          </p:cNvSpPr>
          <p:nvPr/>
        </p:nvSpPr>
        <p:spPr bwMode="auto">
          <a:xfrm>
            <a:off x="832246" y="255333"/>
            <a:ext cx="442833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Impact on Transitional CET1</a:t>
            </a:r>
          </a:p>
        </p:txBody>
      </p: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1183239" y="4547835"/>
            <a:ext cx="37623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16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(starting point 14.5%)</a:t>
            </a:r>
          </a:p>
        </p:txBody>
      </p:sp>
      <p:sp>
        <p:nvSpPr>
          <p:cNvPr id="31751" name="TextBox 9"/>
          <p:cNvSpPr txBox="1">
            <a:spLocks noChangeArrowheads="1"/>
          </p:cNvSpPr>
          <p:nvPr/>
        </p:nvSpPr>
        <p:spPr bwMode="auto">
          <a:xfrm>
            <a:off x="6925070" y="255333"/>
            <a:ext cx="442833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800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Impact on Fully-Loaded CET1</a:t>
            </a:r>
          </a:p>
        </p:txBody>
      </p:sp>
      <p:sp>
        <p:nvSpPr>
          <p:cNvPr id="31752" name="TextBox 10"/>
          <p:cNvSpPr txBox="1">
            <a:spLocks noChangeArrowheads="1"/>
          </p:cNvSpPr>
          <p:nvPr/>
        </p:nvSpPr>
        <p:spPr bwMode="auto">
          <a:xfrm>
            <a:off x="7318373" y="4547835"/>
            <a:ext cx="3733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16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(starting point 14.2%)</a:t>
            </a:r>
          </a:p>
        </p:txBody>
      </p:sp>
      <p:sp>
        <p:nvSpPr>
          <p:cNvPr id="31753" name="Subtitle 2"/>
          <p:cNvSpPr txBox="1">
            <a:spLocks/>
          </p:cNvSpPr>
          <p:nvPr/>
        </p:nvSpPr>
        <p:spPr bwMode="auto">
          <a:xfrm>
            <a:off x="7337379" y="5029221"/>
            <a:ext cx="4036617" cy="2038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864" tIns="54432" rIns="108864" bIns="54432">
            <a:spAutoFit/>
          </a:bodyPr>
          <a:lstStyle>
            <a:lvl1pPr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6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IFRS 9 first implementation: -20bps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6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Stress test impact: -395bps 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6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Capital depletion: €226bn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6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Increase of total REA: €1049bn 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s-MX" sz="1800" dirty="0">
              <a:solidFill>
                <a:srgbClr val="024654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31754" name="Subtitle 2"/>
          <p:cNvSpPr txBox="1">
            <a:spLocks/>
          </p:cNvSpPr>
          <p:nvPr/>
        </p:nvSpPr>
        <p:spPr bwMode="auto">
          <a:xfrm>
            <a:off x="1244554" y="4946469"/>
            <a:ext cx="3798404" cy="2038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864" tIns="54432" rIns="108864" bIns="54432">
            <a:spAutoFit/>
          </a:bodyPr>
          <a:lstStyle>
            <a:lvl1pPr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IFRS 9 first implementation: -10bps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Stress test impact: -410bps 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Capital depletion: €236bn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Increase of total REA: €1055bn 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s-MX" sz="1800" dirty="0">
              <a:solidFill>
                <a:schemeClr val="bg1"/>
              </a:solidFill>
              <a:latin typeface="Trade Gothic Next Heavy" panose="020B09030403030200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F6610AF-EA45-E4D1-B733-28A45D297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210" y="1312116"/>
            <a:ext cx="3798404" cy="308842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BBE71A7-9405-DC87-B7B7-67752D264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033" y="1312116"/>
            <a:ext cx="3798405" cy="308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7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  <p:bldP spid="31749" grpId="0"/>
      <p:bldP spid="31750" grpId="0"/>
      <p:bldP spid="31751" grpId="0"/>
      <p:bldP spid="31752" grpId="0"/>
      <p:bldP spid="31753" grpId="0"/>
      <p:bldP spid="317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DCC4F2-4444-4CF2-AD32-DC7446B9386D}"/>
              </a:ext>
            </a:extLst>
          </p:cNvPr>
          <p:cNvSpPr/>
          <p:nvPr/>
        </p:nvSpPr>
        <p:spPr>
          <a:xfrm>
            <a:off x="0" y="0"/>
            <a:ext cx="12192000" cy="1815908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36" name="Title 20"/>
          <p:cNvSpPr txBox="1">
            <a:spLocks/>
          </p:cNvSpPr>
          <p:nvPr/>
        </p:nvSpPr>
        <p:spPr bwMode="auto">
          <a:xfrm>
            <a:off x="5750471" y="0"/>
            <a:ext cx="6395102" cy="206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26" tIns="60963" rIns="121926" bIns="60963" anchor="ctr">
            <a:spAutoFit/>
          </a:bodyPr>
          <a:lstStyle>
            <a:lvl1pPr defTabSz="457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Drop  solely due to decreasing T1 capital, as leverage exposure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remain constant</a:t>
            </a: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In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2018</a:t>
            </a: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, adverse scenario,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two banks </a:t>
            </a: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report a ratio below the 3% LR.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In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2019</a:t>
            </a: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, adverse scenario,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three banks </a:t>
            </a: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fall below the 3% LR.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In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2020</a:t>
            </a: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, adverse scenario,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three banks </a:t>
            </a:r>
            <a:r>
              <a:rPr lang="en-US" altLang="es-MX" sz="14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fall below the 3% LR.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s-MX" sz="1600" dirty="0">
              <a:solidFill>
                <a:schemeClr val="bg1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44038" name="TextBox 132"/>
          <p:cNvSpPr txBox="1">
            <a:spLocks noChangeArrowheads="1"/>
          </p:cNvSpPr>
          <p:nvPr/>
        </p:nvSpPr>
        <p:spPr bwMode="auto">
          <a:xfrm>
            <a:off x="1264123" y="3191196"/>
            <a:ext cx="4203700" cy="664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9710" tIns="54855" rIns="109710" bIns="54855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8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Transitional leverage ratio falls from 5.4% in 2017 to 4.4% in 2020</a:t>
            </a:r>
          </a:p>
        </p:txBody>
      </p:sp>
      <p:sp>
        <p:nvSpPr>
          <p:cNvPr id="134" name="Round Same Side Corner Rectangle 133"/>
          <p:cNvSpPr/>
          <p:nvPr/>
        </p:nvSpPr>
        <p:spPr>
          <a:xfrm rot="10800000" flipH="1">
            <a:off x="1018533" y="4731573"/>
            <a:ext cx="64294" cy="547688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anchor="ctr"/>
          <a:lstStyle/>
          <a:p>
            <a:pPr defTabSz="914217">
              <a:defRPr/>
            </a:pPr>
            <a:endParaRPr lang="bg-BG" sz="900" dirty="0">
              <a:cs typeface="Lato Light"/>
            </a:endParaRPr>
          </a:p>
        </p:txBody>
      </p:sp>
      <p:sp>
        <p:nvSpPr>
          <p:cNvPr id="44041" name="TextBox 135"/>
          <p:cNvSpPr txBox="1">
            <a:spLocks noChangeArrowheads="1"/>
          </p:cNvSpPr>
          <p:nvPr/>
        </p:nvSpPr>
        <p:spPr bwMode="auto">
          <a:xfrm>
            <a:off x="1264123" y="4673027"/>
            <a:ext cx="4203700" cy="664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9710" tIns="54855" rIns="109710" bIns="54855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8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Fully loaded leverage ratio falls from 5.1% in 2017 to 4.2% in 2020</a:t>
            </a:r>
            <a:endParaRPr lang="en-US" altLang="es-MX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7" name="Round Same Side Corner Rectangle 136"/>
          <p:cNvSpPr/>
          <p:nvPr/>
        </p:nvSpPr>
        <p:spPr>
          <a:xfrm rot="10800000" flipH="1">
            <a:off x="1018532" y="3249742"/>
            <a:ext cx="64295" cy="547688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anchor="ctr"/>
          <a:lstStyle/>
          <a:p>
            <a:pPr defTabSz="914217">
              <a:defRPr/>
            </a:pPr>
            <a:endParaRPr lang="bg-BG" sz="900" dirty="0">
              <a:cs typeface="Lato Light"/>
            </a:endParaRPr>
          </a:p>
        </p:txBody>
      </p:sp>
      <p:sp>
        <p:nvSpPr>
          <p:cNvPr id="3" name="TextBox 198">
            <a:extLst>
              <a:ext uri="{FF2B5EF4-FFF2-40B4-BE49-F238E27FC236}">
                <a16:creationId xmlns:a16="http://schemas.microsoft.com/office/drawing/2014/main" id="{E7DDC43E-5C99-4E5B-92BB-AF483BB30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149" y="365164"/>
            <a:ext cx="3980860" cy="2117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Impact on Aggregate </a:t>
            </a:r>
          </a:p>
          <a:p>
            <a:pPr algn="ctr">
              <a:lnSpc>
                <a:spcPct val="120000"/>
              </a:lnSpc>
            </a:pP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Leverage Ratio </a:t>
            </a:r>
          </a:p>
          <a:p>
            <a:pPr algn="ctr">
              <a:lnSpc>
                <a:spcPct val="120000"/>
              </a:lnSpc>
            </a:pP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 </a:t>
            </a:r>
          </a:p>
          <a:p>
            <a:pPr algn="ctr">
              <a:lnSpc>
                <a:spcPct val="120000"/>
              </a:lnSpc>
            </a:pPr>
            <a:endParaRPr lang="en-US" altLang="es-MX" sz="2800" dirty="0">
              <a:solidFill>
                <a:schemeClr val="bg1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3F9CF0B-889D-C96C-5F89-F6FA688C3128}"/>
              </a:ext>
            </a:extLst>
          </p:cNvPr>
          <p:cNvSpPr txBox="1"/>
          <p:nvPr/>
        </p:nvSpPr>
        <p:spPr>
          <a:xfrm>
            <a:off x="6321431" y="6343384"/>
            <a:ext cx="5712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rade Gothic Next Heavy" panose="020B0903040303020004" pitchFamily="34" charset="0"/>
              </a:rPr>
              <a:t>The chart shows the evolution of </a:t>
            </a:r>
            <a:r>
              <a:rPr lang="en-US" sz="14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transitional </a:t>
            </a:r>
            <a:r>
              <a:rPr lang="en-US" sz="1400" dirty="0">
                <a:latin typeface="Trade Gothic Next Heavy" panose="020B0903040303020004" pitchFamily="34" charset="0"/>
              </a:rPr>
              <a:t>aggregate leverage ratio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527A3DA3-F601-E364-4052-23CFE7071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728" y="1965859"/>
            <a:ext cx="5362363" cy="422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628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4036" grpId="0"/>
      <p:bldP spid="44038" grpId="0"/>
      <p:bldP spid="134" grpId="0" animBg="1"/>
      <p:bldP spid="44041" grpId="0"/>
      <p:bldP spid="137" grpId="0" animBg="1"/>
      <p:bldP spid="3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98">
            <a:extLst>
              <a:ext uri="{FF2B5EF4-FFF2-40B4-BE49-F238E27FC236}">
                <a16:creationId xmlns:a16="http://schemas.microsoft.com/office/drawing/2014/main" id="{30928B6B-B116-75A0-FF47-91B6BD647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2628"/>
            <a:ext cx="12191999" cy="56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Main drivers </a:t>
            </a:r>
            <a:r>
              <a:rPr lang="en-US" altLang="es-MX" sz="2800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of the impact</a:t>
            </a: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 (1/2) </a:t>
            </a:r>
            <a:endParaRPr lang="en-US" altLang="es-MX" sz="2800" dirty="0">
              <a:solidFill>
                <a:srgbClr val="024654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10" name="Rectángulo 2">
            <a:extLst>
              <a:ext uri="{FF2B5EF4-FFF2-40B4-BE49-F238E27FC236}">
                <a16:creationId xmlns:a16="http://schemas.microsoft.com/office/drawing/2014/main" id="{0FEAD291-A050-99C9-8882-091A4B92AB03}"/>
              </a:ext>
            </a:extLst>
          </p:cNvPr>
          <p:cNvSpPr/>
          <p:nvPr/>
        </p:nvSpPr>
        <p:spPr>
          <a:xfrm>
            <a:off x="3746" y="914400"/>
            <a:ext cx="12192000" cy="5943600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Up Arrow 1">
            <a:extLst>
              <a:ext uri="{FF2B5EF4-FFF2-40B4-BE49-F238E27FC236}">
                <a16:creationId xmlns:a16="http://schemas.microsoft.com/office/drawing/2014/main" id="{9593F15A-BBAB-41A9-7F54-03EAFAEC722A}"/>
              </a:ext>
            </a:extLst>
          </p:cNvPr>
          <p:cNvSpPr/>
          <p:nvPr/>
        </p:nvSpPr>
        <p:spPr>
          <a:xfrm>
            <a:off x="970585" y="1842895"/>
            <a:ext cx="2556669" cy="3748882"/>
          </a:xfrm>
          <a:prstGeom prst="upArrow">
            <a:avLst>
              <a:gd name="adj1" fmla="val 69872"/>
              <a:gd name="adj2" fmla="val 45564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endParaRPr lang="en-US" sz="900"/>
          </a:p>
        </p:txBody>
      </p:sp>
      <p:sp>
        <p:nvSpPr>
          <p:cNvPr id="15" name="Up Arrow 214">
            <a:extLst>
              <a:ext uri="{FF2B5EF4-FFF2-40B4-BE49-F238E27FC236}">
                <a16:creationId xmlns:a16="http://schemas.microsoft.com/office/drawing/2014/main" id="{AEB45654-DC64-9957-5675-F29EBC76BA12}"/>
              </a:ext>
            </a:extLst>
          </p:cNvPr>
          <p:cNvSpPr/>
          <p:nvPr/>
        </p:nvSpPr>
        <p:spPr>
          <a:xfrm>
            <a:off x="3540918" y="1870486"/>
            <a:ext cx="2556669" cy="3748882"/>
          </a:xfrm>
          <a:prstGeom prst="upArrow">
            <a:avLst>
              <a:gd name="adj1" fmla="val 69872"/>
              <a:gd name="adj2" fmla="val 45564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endParaRPr lang="en-US" sz="900" dirty="0"/>
          </a:p>
        </p:txBody>
      </p:sp>
      <p:sp>
        <p:nvSpPr>
          <p:cNvPr id="16" name="Up Arrow 216">
            <a:extLst>
              <a:ext uri="{FF2B5EF4-FFF2-40B4-BE49-F238E27FC236}">
                <a16:creationId xmlns:a16="http://schemas.microsoft.com/office/drawing/2014/main" id="{57074F29-6CC7-8B9E-2673-A0AFC1A2CF82}"/>
              </a:ext>
            </a:extLst>
          </p:cNvPr>
          <p:cNvSpPr/>
          <p:nvPr/>
        </p:nvSpPr>
        <p:spPr>
          <a:xfrm>
            <a:off x="6088514" y="1870486"/>
            <a:ext cx="2556669" cy="3748882"/>
          </a:xfrm>
          <a:prstGeom prst="upArrow">
            <a:avLst>
              <a:gd name="adj1" fmla="val 69872"/>
              <a:gd name="adj2" fmla="val 45564"/>
            </a:avLst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endParaRPr lang="en-US" sz="900" dirty="0"/>
          </a:p>
        </p:txBody>
      </p:sp>
      <p:sp>
        <p:nvSpPr>
          <p:cNvPr id="17" name="Up Arrow 217">
            <a:extLst>
              <a:ext uri="{FF2B5EF4-FFF2-40B4-BE49-F238E27FC236}">
                <a16:creationId xmlns:a16="http://schemas.microsoft.com/office/drawing/2014/main" id="{F22AB93E-3574-53B3-234B-EB0364C82926}"/>
              </a:ext>
            </a:extLst>
          </p:cNvPr>
          <p:cNvSpPr/>
          <p:nvPr/>
        </p:nvSpPr>
        <p:spPr>
          <a:xfrm>
            <a:off x="8645918" y="1870486"/>
            <a:ext cx="2555875" cy="3748882"/>
          </a:xfrm>
          <a:prstGeom prst="upArrow">
            <a:avLst>
              <a:gd name="adj1" fmla="val 69872"/>
              <a:gd name="adj2" fmla="val 45564"/>
            </a:avLst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endParaRPr lang="en-US" sz="900"/>
          </a:p>
        </p:txBody>
      </p:sp>
      <p:sp>
        <p:nvSpPr>
          <p:cNvPr id="18" name="TextBox 219">
            <a:extLst>
              <a:ext uri="{FF2B5EF4-FFF2-40B4-BE49-F238E27FC236}">
                <a16:creationId xmlns:a16="http://schemas.microsoft.com/office/drawing/2014/main" id="{13CD10ED-4421-E448-7DD3-8BC97F292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946" y="3187933"/>
            <a:ext cx="1791326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TOTAL REA</a:t>
            </a:r>
            <a:endParaRPr lang="en-US" altLang="es-MX" sz="2000" dirty="0">
              <a:solidFill>
                <a:srgbClr val="FFFFFF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 increases by 12% as of end 2020 compared to the starting point, driving an impact on CET1 capital ratio of</a:t>
            </a: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-160bps</a:t>
            </a:r>
          </a:p>
        </p:txBody>
      </p:sp>
      <p:sp>
        <p:nvSpPr>
          <p:cNvPr id="19" name="TextBox 219">
            <a:extLst>
              <a:ext uri="{FF2B5EF4-FFF2-40B4-BE49-F238E27FC236}">
                <a16:creationId xmlns:a16="http://schemas.microsoft.com/office/drawing/2014/main" id="{53C89D6B-3F24-D813-D480-408CC9857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1684" y="3187933"/>
            <a:ext cx="173513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CREDIT </a:t>
            </a:r>
          </a:p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RISK</a:t>
            </a: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has the highest impact, it detracts 425 bps from the CET1</a:t>
            </a: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capital ratio as of end-2020</a:t>
            </a:r>
          </a:p>
        </p:txBody>
      </p:sp>
      <p:sp>
        <p:nvSpPr>
          <p:cNvPr id="20" name="TextBox 219">
            <a:extLst>
              <a:ext uri="{FF2B5EF4-FFF2-40B4-BE49-F238E27FC236}">
                <a16:creationId xmlns:a16="http://schemas.microsoft.com/office/drawing/2014/main" id="{24425D2B-1D16-28DB-E79B-3B4C5C8E1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80" y="3187933"/>
            <a:ext cx="1735138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MARKET</a:t>
            </a:r>
          </a:p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RISK</a:t>
            </a: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has an impact on CET1 capital ratio of </a:t>
            </a: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–110 bps</a:t>
            </a:r>
          </a:p>
          <a:p>
            <a:pPr algn="ctr"/>
            <a:endParaRPr lang="en-US" altLang="es-MX" sz="1600" dirty="0">
              <a:solidFill>
                <a:srgbClr val="FFFFFF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TextBox 219">
            <a:extLst>
              <a:ext uri="{FF2B5EF4-FFF2-40B4-BE49-F238E27FC236}">
                <a16:creationId xmlns:a16="http://schemas.microsoft.com/office/drawing/2014/main" id="{5B63FBD6-B74F-16B7-A098-BE26539C5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5694" y="3190876"/>
            <a:ext cx="173513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OPERAT.</a:t>
            </a:r>
          </a:p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RISK</a:t>
            </a: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drives banks’ CET1 capital ratio further down by 100bps.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6ABEBDC-2E2E-A7F3-895C-19C87B798980}"/>
              </a:ext>
            </a:extLst>
          </p:cNvPr>
          <p:cNvSpPr txBox="1"/>
          <p:nvPr/>
        </p:nvSpPr>
        <p:spPr>
          <a:xfrm>
            <a:off x="7231958" y="5911649"/>
            <a:ext cx="5110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*</a:t>
            </a:r>
            <a:r>
              <a:rPr lang="en-US" sz="16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Other drivers </a:t>
            </a:r>
            <a:r>
              <a:rPr lang="en-US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to the impact on banks’ capital are related to </a:t>
            </a:r>
            <a:r>
              <a:rPr lang="en-US" sz="16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non-interest income and expenses items </a:t>
            </a:r>
            <a:r>
              <a:rPr lang="en-US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(NFCI, dividend income).</a:t>
            </a:r>
            <a:endParaRPr lang="it-IT" sz="1600" dirty="0">
              <a:solidFill>
                <a:schemeClr val="bg1"/>
              </a:solidFill>
              <a:latin typeface="Trade Gothic Next Heavy" panose="020B0903040303020004" pitchFamily="34" charset="0"/>
            </a:endParaRP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AF37AD3C-DDEC-617A-823B-85889A3BC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203" y="2413097"/>
            <a:ext cx="755307" cy="609158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3246E633-5D6F-09AB-D675-1A46A2DC5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840" y="2413097"/>
            <a:ext cx="663887" cy="609158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FB903350-7539-F6F2-5E5D-7EFDF1A2E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453" y="2318595"/>
            <a:ext cx="692941" cy="575494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7EB8A650-E139-A66A-25DD-EE00A7B61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367" y="2283945"/>
            <a:ext cx="588353" cy="61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9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D46E849-4383-45C7-BC7F-B862D08DED39}"/>
              </a:ext>
            </a:extLst>
          </p:cNvPr>
          <p:cNvSpPr/>
          <p:nvPr/>
        </p:nvSpPr>
        <p:spPr>
          <a:xfrm>
            <a:off x="0" y="947057"/>
            <a:ext cx="12192000" cy="5910943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198">
            <a:extLst>
              <a:ext uri="{FF2B5EF4-FFF2-40B4-BE49-F238E27FC236}">
                <a16:creationId xmlns:a16="http://schemas.microsoft.com/office/drawing/2014/main" id="{4DE0D8C6-E05A-4C5C-8E8D-8146C1A3C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2628"/>
            <a:ext cx="12191999" cy="56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Main drivers </a:t>
            </a:r>
            <a:r>
              <a:rPr lang="en-US" altLang="es-MX" sz="2800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of the impact</a:t>
            </a: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 (2/2) </a:t>
            </a:r>
            <a:endParaRPr lang="en-US" altLang="es-MX" sz="2800" dirty="0">
              <a:solidFill>
                <a:srgbClr val="024654"/>
              </a:solidFill>
              <a:latin typeface="Trade Gothic Next Heavy" panose="020B09030403030200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68FBC3D-FC2C-7C07-632C-CEF0A5C80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79" y="1501253"/>
            <a:ext cx="10272441" cy="479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6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xmlns:p14="http://schemas.microsoft.com/office/powerpoint/2010/main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89EA923-A4AA-4F0D-9004-BAB8764570D9}"/>
              </a:ext>
            </a:extLst>
          </p:cNvPr>
          <p:cNvSpPr/>
          <p:nvPr/>
        </p:nvSpPr>
        <p:spPr>
          <a:xfrm>
            <a:off x="6496335" y="0"/>
            <a:ext cx="5695666" cy="6857999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2225" name="Group 2"/>
          <p:cNvGrpSpPr>
            <a:grpSpLocks/>
          </p:cNvGrpSpPr>
          <p:nvPr/>
        </p:nvGrpSpPr>
        <p:grpSpPr bwMode="auto">
          <a:xfrm>
            <a:off x="6916072" y="1084078"/>
            <a:ext cx="4872038" cy="5385214"/>
            <a:chOff x="13191384" y="2654900"/>
            <a:chExt cx="8859303" cy="7829125"/>
          </a:xfrm>
        </p:grpSpPr>
        <p:sp>
          <p:nvSpPr>
            <p:cNvPr id="13" name="Rectangle 12"/>
            <p:cNvSpPr/>
            <p:nvPr/>
          </p:nvSpPr>
          <p:spPr>
            <a:xfrm>
              <a:off x="13191384" y="6783764"/>
              <a:ext cx="8859303" cy="1617574"/>
            </a:xfrm>
            <a:prstGeom prst="rect">
              <a:avLst/>
            </a:prstGeom>
            <a:solidFill>
              <a:schemeClr val="accent3"/>
            </a:solidFill>
            <a:ln w="38100" cmpd="sng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914217">
                <a:defRPr/>
              </a:pPr>
              <a:endParaRPr lang="en-US" sz="320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3191384" y="8864863"/>
              <a:ext cx="8859303" cy="1619162"/>
            </a:xfrm>
            <a:prstGeom prst="rect">
              <a:avLst/>
            </a:prstGeom>
            <a:solidFill>
              <a:schemeClr val="accent4"/>
            </a:solidFill>
            <a:ln w="38100" cmpd="sng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914217">
                <a:defRPr/>
              </a:pPr>
              <a:endParaRPr lang="en-US" sz="320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3191384" y="4707427"/>
              <a:ext cx="8859303" cy="1619162"/>
            </a:xfrm>
            <a:prstGeom prst="rect">
              <a:avLst/>
            </a:prstGeom>
            <a:solidFill>
              <a:schemeClr val="accent2"/>
            </a:solidFill>
            <a:ln w="57150" cmpd="sng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914217">
                <a:defRPr/>
              </a:pPr>
              <a:endParaRPr lang="en-US" sz="32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3191384" y="2654900"/>
              <a:ext cx="8859303" cy="1619162"/>
            </a:xfrm>
            <a:prstGeom prst="rect">
              <a:avLst/>
            </a:prstGeom>
            <a:solidFill>
              <a:schemeClr val="accent1"/>
            </a:solidFill>
            <a:ln w="38100" cmpd="sng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914217">
                <a:defRPr/>
              </a:pPr>
              <a:endParaRPr lang="en-US" sz="3200" dirty="0"/>
            </a:p>
          </p:txBody>
        </p:sp>
      </p:grpSp>
      <p:sp>
        <p:nvSpPr>
          <p:cNvPr id="52230" name="TextBox 37"/>
          <p:cNvSpPr txBox="1">
            <a:spLocks noChangeArrowheads="1"/>
          </p:cNvSpPr>
          <p:nvPr/>
        </p:nvSpPr>
        <p:spPr bwMode="auto">
          <a:xfrm>
            <a:off x="7872002" y="1371484"/>
            <a:ext cx="3474415" cy="69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it-IT" sz="1800" b="1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EBA-</a:t>
            </a:r>
            <a:r>
              <a:rPr lang="it-IT" sz="1800" b="1" dirty="0" err="1">
                <a:solidFill>
                  <a:schemeClr val="bg1"/>
                </a:solidFill>
                <a:latin typeface="Trade Gothic Next Heavy" panose="020B0903040303020004" pitchFamily="34" charset="0"/>
              </a:rPr>
              <a:t>compliant</a:t>
            </a:r>
            <a:r>
              <a:rPr lang="it-IT" sz="1800" b="1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 moratoria</a:t>
            </a:r>
            <a:endParaRPr lang="en-US" altLang="es-MX" sz="1800" b="1" dirty="0">
              <a:solidFill>
                <a:schemeClr val="bg1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2232" name="TextBox 42"/>
          <p:cNvSpPr txBox="1">
            <a:spLocks noChangeArrowheads="1"/>
          </p:cNvSpPr>
          <p:nvPr/>
        </p:nvSpPr>
        <p:spPr bwMode="auto">
          <a:xfrm>
            <a:off x="7979907" y="2759136"/>
            <a:ext cx="3128169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es-MX" sz="1800" b="1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Public guarantee schemes</a:t>
            </a:r>
          </a:p>
        </p:txBody>
      </p:sp>
      <p:sp>
        <p:nvSpPr>
          <p:cNvPr id="52233" name="TextBox 46"/>
          <p:cNvSpPr txBox="1">
            <a:spLocks noChangeArrowheads="1"/>
          </p:cNvSpPr>
          <p:nvPr/>
        </p:nvSpPr>
        <p:spPr bwMode="auto">
          <a:xfrm>
            <a:off x="7691263" y="4196148"/>
            <a:ext cx="3989443" cy="782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endParaRPr lang="en-US" altLang="es-MX" sz="1200" dirty="0">
              <a:solidFill>
                <a:srgbClr val="FFFFFF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2234" name="TextBox 47"/>
          <p:cNvSpPr txBox="1">
            <a:spLocks noChangeArrowheads="1"/>
          </p:cNvSpPr>
          <p:nvPr/>
        </p:nvSpPr>
        <p:spPr bwMode="auto">
          <a:xfrm>
            <a:off x="7780083" y="4112641"/>
            <a:ext cx="3128169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it-IT" sz="1800" b="1" dirty="0" err="1">
                <a:solidFill>
                  <a:schemeClr val="bg1"/>
                </a:solidFill>
                <a:latin typeface="Trade Gothic Next Heavy" panose="020B0903040303020004" pitchFamily="34" charset="0"/>
              </a:rPr>
              <a:t>Amendments</a:t>
            </a:r>
            <a:endParaRPr lang="en-US" altLang="es-MX" sz="1800" b="1" dirty="0">
              <a:solidFill>
                <a:schemeClr val="bg1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2235" name="TextBox 48"/>
          <p:cNvSpPr txBox="1">
            <a:spLocks noChangeArrowheads="1"/>
          </p:cNvSpPr>
          <p:nvPr/>
        </p:nvSpPr>
        <p:spPr bwMode="auto">
          <a:xfrm>
            <a:off x="7691263" y="5669093"/>
            <a:ext cx="3989443" cy="690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endParaRPr lang="en-US" altLang="es-MX" sz="1200" dirty="0">
              <a:solidFill>
                <a:srgbClr val="FFFFFF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</p:txBody>
      </p:sp>
      <p:sp>
        <p:nvSpPr>
          <p:cNvPr id="52236" name="TextBox 49"/>
          <p:cNvSpPr txBox="1">
            <a:spLocks noChangeArrowheads="1"/>
          </p:cNvSpPr>
          <p:nvPr/>
        </p:nvSpPr>
        <p:spPr bwMode="auto">
          <a:xfrm>
            <a:off x="7455913" y="5559667"/>
            <a:ext cx="3575907" cy="690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es-MX" sz="1800" b="1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FX variations</a:t>
            </a:r>
          </a:p>
        </p:txBody>
      </p:sp>
      <p:sp>
        <p:nvSpPr>
          <p:cNvPr id="52238" name="TextBox 51"/>
          <p:cNvSpPr txBox="1">
            <a:spLocks noChangeArrowheads="1"/>
          </p:cNvSpPr>
          <p:nvPr/>
        </p:nvSpPr>
        <p:spPr bwMode="auto">
          <a:xfrm>
            <a:off x="6875845" y="2532717"/>
            <a:ext cx="996157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endParaRPr lang="en-US" altLang="es-MX" sz="2400" dirty="0">
              <a:solidFill>
                <a:srgbClr val="FFFFF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2240" name="TextBox 53"/>
          <p:cNvSpPr txBox="1">
            <a:spLocks noChangeArrowheads="1"/>
          </p:cNvSpPr>
          <p:nvPr/>
        </p:nvSpPr>
        <p:spPr bwMode="auto">
          <a:xfrm>
            <a:off x="6807028" y="4637087"/>
            <a:ext cx="996157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</a:pPr>
            <a:endParaRPr lang="en-US" altLang="es-MX" sz="2400" dirty="0">
              <a:solidFill>
                <a:srgbClr val="FFFFF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hape 188">
            <a:extLst>
              <a:ext uri="{FF2B5EF4-FFF2-40B4-BE49-F238E27FC236}">
                <a16:creationId xmlns:a16="http://schemas.microsoft.com/office/drawing/2014/main" id="{5A416C8B-537E-42FD-875B-B2486E4BE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07" y="979947"/>
            <a:ext cx="4878737" cy="2753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584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584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584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584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584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584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584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584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584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 algn="just" eaLnBrk="0" hangingPunct="0">
              <a:buFont typeface="Arial" panose="020B0604020202020204" pitchFamily="34" charset="0"/>
              <a:buChar char="•"/>
            </a:pPr>
            <a:r>
              <a:rPr lang="en-US" altLang="es-MX" sz="14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The stress has been postponed to 2021 by the EBA due to the global spread of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COVID-19</a:t>
            </a:r>
            <a:r>
              <a:rPr lang="en-US" altLang="es-MX" sz="14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.</a:t>
            </a:r>
          </a:p>
          <a:p>
            <a:pPr algn="just" eaLnBrk="0" hangingPunct="0"/>
            <a:endParaRPr lang="en-US" altLang="es-MX" sz="1400" dirty="0"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  <a:p>
            <a:pPr marL="285750" indent="-285750" algn="just" eaLnBrk="0" hangingPunct="0">
              <a:buFont typeface="Arial" panose="020B0604020202020204" pitchFamily="34" charset="0"/>
              <a:buChar char="•"/>
            </a:pPr>
            <a:r>
              <a:rPr lang="en-US" altLang="es-MX" sz="14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Banks participating: a sample of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50 banks</a:t>
            </a:r>
            <a:r>
              <a:rPr lang="en-US" altLang="es-MX" sz="14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, covering 70% of total banking assets across 15 countries of EU and EEA.</a:t>
            </a:r>
          </a:p>
          <a:p>
            <a:pPr marL="285750" indent="-285750" algn="just" eaLnBrk="0" hangingPunct="0">
              <a:buFont typeface="Arial" panose="020B0604020202020204" pitchFamily="34" charset="0"/>
              <a:buChar char="•"/>
            </a:pPr>
            <a:endParaRPr lang="en-US" altLang="es-MX" sz="1400" dirty="0"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  <a:p>
            <a:pPr marL="285750" indent="-285750" algn="just" eaLnBrk="0" hangingPunct="0">
              <a:buFont typeface="Arial" panose="020B0604020202020204" pitchFamily="34" charset="0"/>
              <a:buChar char="•"/>
            </a:pPr>
            <a:r>
              <a:rPr lang="en-US" altLang="es-MX" sz="14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Main </a:t>
            </a:r>
            <a:r>
              <a:rPr lang="en-US" altLang="es-MX" sz="14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methodological changes </a:t>
            </a:r>
            <a:r>
              <a:rPr lang="en-US" altLang="es-MX" sz="14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compared to the 2018 exercise: the treatment of sight deposits, changes in the minimum NPL coverage, a new securitization framework, P2R disclosure, and enhancing transparency in the credit risk area.</a:t>
            </a:r>
          </a:p>
          <a:p>
            <a:pPr algn="just" eaLnBrk="0" hangingPunct="0"/>
            <a:endParaRPr lang="en-US" altLang="es-MX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198">
            <a:extLst>
              <a:ext uri="{FF2B5EF4-FFF2-40B4-BE49-F238E27FC236}">
                <a16:creationId xmlns:a16="http://schemas.microsoft.com/office/drawing/2014/main" id="{79C8A37F-ECF0-4ACF-B402-6FC4EB293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646" y="318002"/>
            <a:ext cx="4035592" cy="49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s-MX" sz="24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EBA Stress Test </a:t>
            </a:r>
            <a:r>
              <a:rPr lang="en-US" altLang="es-MX" sz="2400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2020-2021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5B45D10-F833-0036-2336-CB4279D3B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848" y="4215058"/>
            <a:ext cx="506322" cy="58054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DF82484-E220-8685-6F8C-C5D791813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41" y="2792290"/>
            <a:ext cx="510129" cy="51012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B8410F6-A216-DEC3-4E18-D6C51CA46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41" y="5606833"/>
            <a:ext cx="510129" cy="61118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357FF3F-79D6-2CF5-E55A-9AD2E5740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371" y="1378007"/>
            <a:ext cx="509799" cy="554194"/>
          </a:xfrm>
          <a:prstGeom prst="rect">
            <a:avLst/>
          </a:prstGeom>
        </p:spPr>
      </p:pic>
      <p:pic>
        <p:nvPicPr>
          <p:cNvPr id="14" name="Immagine 13" descr="Immagine che contiene testo, lanyard, connettore&#10;&#10;Descrizione generata automaticamente">
            <a:extLst>
              <a:ext uri="{FF2B5EF4-FFF2-40B4-BE49-F238E27FC236}">
                <a16:creationId xmlns:a16="http://schemas.microsoft.com/office/drawing/2014/main" id="{D2123540-C508-591D-2D00-5F4004B04B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41" y="3856623"/>
            <a:ext cx="5086382" cy="27833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4F8D6BA-D96A-BBB1-C3F9-14BDFFFD9E31}"/>
              </a:ext>
            </a:extLst>
          </p:cNvPr>
          <p:cNvSpPr txBox="1"/>
          <p:nvPr/>
        </p:nvSpPr>
        <p:spPr>
          <a:xfrm>
            <a:off x="6807028" y="318002"/>
            <a:ext cx="4873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METHODOLOGY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2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0" grpId="0"/>
      <p:bldP spid="52232" grpId="0"/>
      <p:bldP spid="52234" grpId="0"/>
      <p:bldP spid="52236" grpId="0"/>
      <p:bldP spid="4" grpId="0"/>
      <p:bldP spid="5" grpId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EAB4674-882B-4216-8F07-E723E52B2CDB}"/>
              </a:ext>
            </a:extLst>
          </p:cNvPr>
          <p:cNvSpPr/>
          <p:nvPr/>
        </p:nvSpPr>
        <p:spPr>
          <a:xfrm>
            <a:off x="-15299" y="0"/>
            <a:ext cx="12207299" cy="1526915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2CBD315-02A2-4E0D-916D-29877A3A4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50" y="2403233"/>
            <a:ext cx="12192000" cy="232851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EB07CFE-B83E-E31C-373F-64BBBB3671E1}"/>
              </a:ext>
            </a:extLst>
          </p:cNvPr>
          <p:cNvSpPr txBox="1"/>
          <p:nvPr/>
        </p:nvSpPr>
        <p:spPr>
          <a:xfrm>
            <a:off x="292695" y="5115735"/>
            <a:ext cx="278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e Gothic Next Heavy" panose="020B0903040303020004" pitchFamily="34" charset="0"/>
              </a:rPr>
              <a:t>Cumulative fall in GDP over 3 years by 3.6%</a:t>
            </a:r>
            <a:endParaRPr lang="it-IT" dirty="0">
              <a:latin typeface="Trade Gothic Next Heavy" panose="020B09030403030200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154BA0A-2169-686C-53FB-3946F3CA0584}"/>
              </a:ext>
            </a:extLst>
          </p:cNvPr>
          <p:cNvSpPr txBox="1"/>
          <p:nvPr/>
        </p:nvSpPr>
        <p:spPr>
          <a:xfrm>
            <a:off x="3226738" y="5131859"/>
            <a:ext cx="2549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ade Gothic Next Heavy" panose="020B0903040303020004" pitchFamily="34" charset="0"/>
              </a:rPr>
              <a:t>Unemployment rate would rise by 4.7%</a:t>
            </a:r>
            <a:endParaRPr lang="it-IT" dirty="0">
              <a:latin typeface="Trade Gothic Next Heavy" panose="020B09030403030200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D96A7AE-BD1D-B2BC-85A8-6AE6F9F1293F}"/>
              </a:ext>
            </a:extLst>
          </p:cNvPr>
          <p:cNvSpPr txBox="1"/>
          <p:nvPr/>
        </p:nvSpPr>
        <p:spPr>
          <a:xfrm>
            <a:off x="6074532" y="5115735"/>
            <a:ext cx="2549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ade Gothic Next Heavy" panose="020B0903040303020004" pitchFamily="34" charset="0"/>
              </a:rPr>
              <a:t>Cumulative inflation over 3 years stands at 1.7%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A5B3A1E-B764-FF1D-ACF9-5619C788AB7B}"/>
              </a:ext>
            </a:extLst>
          </p:cNvPr>
          <p:cNvSpPr txBox="1"/>
          <p:nvPr/>
        </p:nvSpPr>
        <p:spPr>
          <a:xfrm>
            <a:off x="8773047" y="5115735"/>
            <a:ext cx="3269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ade Gothic Next Heavy" panose="020B0903040303020004" pitchFamily="34" charset="0"/>
              </a:rPr>
              <a:t>Cumulative fall in residential and commercial real estate prices over 3 years of 16.1% and  </a:t>
            </a:r>
            <a:r>
              <a:rPr lang="en-US" dirty="0">
                <a:solidFill>
                  <a:prstClr val="black"/>
                </a:solidFill>
                <a:latin typeface="Trade Gothic Next Heavy" panose="020B0903040303020004" pitchFamily="34" charset="0"/>
              </a:rPr>
              <a:t>31.2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ade Gothic Next Heavy" panose="020B0903040303020004" pitchFamily="34" charset="0"/>
              </a:rPr>
              <a:t>% respectively</a:t>
            </a:r>
            <a:endParaRPr lang="it-IT" dirty="0">
              <a:latin typeface="Trade Gothic Next Heavy" panose="020B0903040303020004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9F5F5AA-D5D0-ECCF-F04D-5C18FC8FDCD7}"/>
              </a:ext>
            </a:extLst>
          </p:cNvPr>
          <p:cNvSpPr txBox="1"/>
          <p:nvPr/>
        </p:nvSpPr>
        <p:spPr>
          <a:xfrm>
            <a:off x="2184033" y="2003123"/>
            <a:ext cx="8385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e Gothic Next Heavy" panose="020B0903040303020004" pitchFamily="34" charset="0"/>
              </a:rPr>
              <a:t>The most important shocks of the EU adverse scenario would lead to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e Gothic Next Heavy" panose="020B0903040303020004" pitchFamily="34" charset="0"/>
              </a:rPr>
              <a:t>:</a:t>
            </a:r>
          </a:p>
        </p:txBody>
      </p:sp>
      <p:sp>
        <p:nvSpPr>
          <p:cNvPr id="16" name="CuadroTexto 2">
            <a:extLst>
              <a:ext uri="{FF2B5EF4-FFF2-40B4-BE49-F238E27FC236}">
                <a16:creationId xmlns:a16="http://schemas.microsoft.com/office/drawing/2014/main" id="{8C386B60-C02E-3273-D4D0-F4B6A892D596}"/>
              </a:ext>
            </a:extLst>
          </p:cNvPr>
          <p:cNvSpPr txBox="1"/>
          <p:nvPr/>
        </p:nvSpPr>
        <p:spPr>
          <a:xfrm>
            <a:off x="3817263" y="224848"/>
            <a:ext cx="45145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s-MX" sz="3200" b="1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Adverse Scenario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s-MX" sz="3200" b="1" i="0" u="none" strike="noStrike" kern="1200" cap="none" spc="0" normalizeH="0" baseline="0" noProof="0" dirty="0">
                <a:ln>
                  <a:noFill/>
                </a:ln>
                <a:solidFill>
                  <a:srgbClr val="FF7300"/>
                </a:solidFill>
                <a:effectLst/>
                <a:uLnTx/>
                <a:uFillTx/>
                <a:latin typeface="Trade Gothic Next Heavy" panose="020B0903040303020004" pitchFamily="34" charset="0"/>
              </a:rPr>
              <a:t>202</a:t>
            </a:r>
            <a:r>
              <a:rPr lang="en-US" altLang="es-MX" sz="3200" b="1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0/2021</a:t>
            </a:r>
            <a:endParaRPr kumimoji="0" lang="en-US" altLang="es-MX" sz="3200" b="1" i="0" u="none" strike="noStrike" kern="1200" cap="none" spc="0" normalizeH="0" baseline="0" noProof="0" dirty="0">
              <a:ln>
                <a:noFill/>
              </a:ln>
              <a:solidFill>
                <a:srgbClr val="FF7300"/>
              </a:solidFill>
              <a:effectLst/>
              <a:uLnTx/>
              <a:uFillTx/>
              <a:latin typeface="Trade Gothic Next Heavy" panose="020B0903040303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47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BCE77EF-21A3-407A-8088-CA1BC7A6AAD1}"/>
              </a:ext>
            </a:extLst>
          </p:cNvPr>
          <p:cNvSpPr/>
          <p:nvPr/>
        </p:nvSpPr>
        <p:spPr>
          <a:xfrm>
            <a:off x="0" y="1"/>
            <a:ext cx="6092825" cy="6857999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094413" y="0"/>
            <a:ext cx="6092825" cy="6858000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endParaRPr lang="en-US" sz="900" dirty="0">
              <a:latin typeface="Lato Regular"/>
              <a:cs typeface="Lato Regular"/>
            </a:endParaRPr>
          </a:p>
        </p:txBody>
      </p:sp>
      <p:sp>
        <p:nvSpPr>
          <p:cNvPr id="31749" name="TextBox 6"/>
          <p:cNvSpPr txBox="1">
            <a:spLocks noChangeArrowheads="1"/>
          </p:cNvSpPr>
          <p:nvPr/>
        </p:nvSpPr>
        <p:spPr bwMode="auto">
          <a:xfrm>
            <a:off x="832246" y="327290"/>
            <a:ext cx="442833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Impact on Transitional CET1</a:t>
            </a:r>
          </a:p>
        </p:txBody>
      </p: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1225549" y="4736568"/>
            <a:ext cx="37623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16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(starting point 15.3%)</a:t>
            </a:r>
          </a:p>
        </p:txBody>
      </p:sp>
      <p:sp>
        <p:nvSpPr>
          <p:cNvPr id="31751" name="TextBox 9"/>
          <p:cNvSpPr txBox="1">
            <a:spLocks noChangeArrowheads="1"/>
          </p:cNvSpPr>
          <p:nvPr/>
        </p:nvSpPr>
        <p:spPr bwMode="auto">
          <a:xfrm>
            <a:off x="6925071" y="323698"/>
            <a:ext cx="442833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800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Impact on Fully-Loaded CET1 </a:t>
            </a:r>
          </a:p>
        </p:txBody>
      </p:sp>
      <p:sp>
        <p:nvSpPr>
          <p:cNvPr id="31752" name="TextBox 10"/>
          <p:cNvSpPr txBox="1">
            <a:spLocks noChangeArrowheads="1"/>
          </p:cNvSpPr>
          <p:nvPr/>
        </p:nvSpPr>
        <p:spPr bwMode="auto">
          <a:xfrm>
            <a:off x="7318373" y="4674771"/>
            <a:ext cx="3733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16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(starting point 15%)</a:t>
            </a:r>
          </a:p>
        </p:txBody>
      </p:sp>
      <p:sp>
        <p:nvSpPr>
          <p:cNvPr id="31753" name="Subtitle 2"/>
          <p:cNvSpPr txBox="1">
            <a:spLocks/>
          </p:cNvSpPr>
          <p:nvPr/>
        </p:nvSpPr>
        <p:spPr bwMode="auto">
          <a:xfrm>
            <a:off x="7318373" y="5155691"/>
            <a:ext cx="3733800" cy="1342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864" tIns="54432" rIns="108864" bIns="54432">
            <a:spAutoFit/>
          </a:bodyPr>
          <a:lstStyle>
            <a:lvl1pPr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8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Stress test impact: -485 bps 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8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Capital depletion: €265bn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800" dirty="0">
                <a:solidFill>
                  <a:srgbClr val="024654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Increase of total REA: €868bn </a:t>
            </a:r>
          </a:p>
        </p:txBody>
      </p:sp>
      <p:sp>
        <p:nvSpPr>
          <p:cNvPr id="31754" name="Subtitle 2"/>
          <p:cNvSpPr txBox="1">
            <a:spLocks/>
          </p:cNvSpPr>
          <p:nvPr/>
        </p:nvSpPr>
        <p:spPr bwMode="auto">
          <a:xfrm>
            <a:off x="1225549" y="5155690"/>
            <a:ext cx="3798404" cy="1342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864" tIns="54432" rIns="108864" bIns="54432">
            <a:spAutoFit/>
          </a:bodyPr>
          <a:lstStyle>
            <a:lvl1pPr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1087438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8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Stress test impact: -497 bps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8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Capital depletion: €273bn</a:t>
            </a:r>
          </a:p>
          <a:p>
            <a:pPr marL="285750" indent="-285750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s-MX" sz="18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Increase of total REA: €866bn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91757CE-1AA6-3B72-1893-5C67F037D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49" y="1512471"/>
            <a:ext cx="3762375" cy="31623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27B3A06-2F96-5487-03DE-EE6054665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74" y="1423035"/>
            <a:ext cx="3733800" cy="316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  <p:bldP spid="31749" grpId="0"/>
      <p:bldP spid="31750" grpId="0"/>
      <p:bldP spid="31752" grpId="0"/>
      <p:bldP spid="31753" grpId="0"/>
      <p:bldP spid="3175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DCC4F2-4444-4CF2-AD32-DC7446B9386D}"/>
              </a:ext>
            </a:extLst>
          </p:cNvPr>
          <p:cNvSpPr/>
          <p:nvPr/>
        </p:nvSpPr>
        <p:spPr>
          <a:xfrm>
            <a:off x="0" y="0"/>
            <a:ext cx="12192000" cy="1815908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36" name="Title 20"/>
          <p:cNvSpPr txBox="1">
            <a:spLocks/>
          </p:cNvSpPr>
          <p:nvPr/>
        </p:nvSpPr>
        <p:spPr bwMode="auto">
          <a:xfrm>
            <a:off x="6319158" y="129212"/>
            <a:ext cx="5543767" cy="1557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26" tIns="60963" rIns="121926" bIns="60963" anchor="ctr">
            <a:spAutoFit/>
          </a:bodyPr>
          <a:lstStyle>
            <a:lvl1pPr defTabSz="457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The drop is solely due to decreasing T1 capital, as </a:t>
            </a:r>
            <a:r>
              <a:rPr lang="en-US" altLang="es-MX" sz="16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leverage exposure </a:t>
            </a:r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remains constant.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In the adverse scenario, </a:t>
            </a:r>
            <a:r>
              <a:rPr lang="en-US" altLang="es-MX" sz="16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four banks </a:t>
            </a:r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report a ratio </a:t>
            </a:r>
            <a:r>
              <a:rPr lang="en-US" altLang="es-MX" sz="1600" dirty="0">
                <a:solidFill>
                  <a:srgbClr val="FF7300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below 3%</a:t>
            </a:r>
            <a:r>
              <a:rPr lang="en-US" altLang="es-MX" sz="1600" dirty="0">
                <a:solidFill>
                  <a:schemeClr val="bg1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 for every year of the stress </a:t>
            </a:r>
          </a:p>
        </p:txBody>
      </p:sp>
      <p:sp>
        <p:nvSpPr>
          <p:cNvPr id="44038" name="TextBox 132"/>
          <p:cNvSpPr txBox="1">
            <a:spLocks noChangeArrowheads="1"/>
          </p:cNvSpPr>
          <p:nvPr/>
        </p:nvSpPr>
        <p:spPr bwMode="auto">
          <a:xfrm>
            <a:off x="1264123" y="3191196"/>
            <a:ext cx="4203700" cy="664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9710" tIns="54855" rIns="109710" bIns="54855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8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Transitional leverage ratio falls from 5.7% in 2020 to 4.4% (-130 bps)</a:t>
            </a:r>
          </a:p>
        </p:txBody>
      </p:sp>
      <p:sp>
        <p:nvSpPr>
          <p:cNvPr id="134" name="Round Same Side Corner Rectangle 133"/>
          <p:cNvSpPr/>
          <p:nvPr/>
        </p:nvSpPr>
        <p:spPr>
          <a:xfrm rot="10800000" flipH="1">
            <a:off x="1018533" y="4731573"/>
            <a:ext cx="64294" cy="547688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anchor="ctr"/>
          <a:lstStyle/>
          <a:p>
            <a:pPr defTabSz="914217">
              <a:defRPr/>
            </a:pPr>
            <a:endParaRPr lang="bg-BG" sz="900" dirty="0">
              <a:cs typeface="Lato Light"/>
            </a:endParaRPr>
          </a:p>
        </p:txBody>
      </p:sp>
      <p:sp>
        <p:nvSpPr>
          <p:cNvPr id="44041" name="TextBox 135"/>
          <p:cNvSpPr txBox="1">
            <a:spLocks noChangeArrowheads="1"/>
          </p:cNvSpPr>
          <p:nvPr/>
        </p:nvSpPr>
        <p:spPr bwMode="auto">
          <a:xfrm>
            <a:off x="1264123" y="4673027"/>
            <a:ext cx="4203700" cy="664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9710" tIns="54855" rIns="109710" bIns="54855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s-MX" sz="1800" dirty="0">
                <a:latin typeface="Trade Gothic Next Heavy" panose="020B0903040303020004" pitchFamily="34" charset="0"/>
                <a:cs typeface="Calibri Light" panose="020F0302020204030204" pitchFamily="34" charset="0"/>
              </a:rPr>
              <a:t>Fully loaded leverage ratio falls from 5.6% to 4.3% (-124 bps</a:t>
            </a:r>
            <a:r>
              <a:rPr lang="en-US" altLang="es-MX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sp>
        <p:nvSpPr>
          <p:cNvPr id="137" name="Round Same Side Corner Rectangle 136"/>
          <p:cNvSpPr/>
          <p:nvPr/>
        </p:nvSpPr>
        <p:spPr>
          <a:xfrm rot="10800000" flipH="1">
            <a:off x="1018532" y="3249742"/>
            <a:ext cx="64295" cy="547688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anchor="ctr"/>
          <a:lstStyle/>
          <a:p>
            <a:pPr defTabSz="914217">
              <a:defRPr/>
            </a:pPr>
            <a:endParaRPr lang="bg-BG" sz="900" dirty="0">
              <a:cs typeface="Lato Light"/>
            </a:endParaRPr>
          </a:p>
        </p:txBody>
      </p:sp>
      <p:sp>
        <p:nvSpPr>
          <p:cNvPr id="3" name="TextBox 198">
            <a:extLst>
              <a:ext uri="{FF2B5EF4-FFF2-40B4-BE49-F238E27FC236}">
                <a16:creationId xmlns:a16="http://schemas.microsoft.com/office/drawing/2014/main" id="{E7DDC43E-5C99-4E5B-92BB-AF483BB30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149" y="365164"/>
            <a:ext cx="3980860" cy="160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Impact on Aggregate </a:t>
            </a:r>
          </a:p>
          <a:p>
            <a:pPr algn="ctr">
              <a:lnSpc>
                <a:spcPct val="120000"/>
              </a:lnSpc>
            </a:pP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Leverage Ratio </a:t>
            </a:r>
          </a:p>
          <a:p>
            <a:pPr algn="ctr">
              <a:lnSpc>
                <a:spcPct val="120000"/>
              </a:lnSpc>
            </a:pPr>
            <a:endParaRPr lang="en-US" altLang="es-MX" sz="2800" dirty="0">
              <a:solidFill>
                <a:schemeClr val="bg1"/>
              </a:solidFill>
              <a:latin typeface="Trade Gothic Next Heavy" panose="020B09030403030200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FFC36BD-12C2-0AAB-1D94-D8C6ACECD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432" y="2091186"/>
            <a:ext cx="5315218" cy="411341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3F9CF0B-889D-C96C-5F89-F6FA688C3128}"/>
              </a:ext>
            </a:extLst>
          </p:cNvPr>
          <p:cNvSpPr txBox="1"/>
          <p:nvPr/>
        </p:nvSpPr>
        <p:spPr>
          <a:xfrm>
            <a:off x="6433432" y="6364033"/>
            <a:ext cx="5712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rade Gothic Next Heavy" panose="020B0903040303020004" pitchFamily="34" charset="0"/>
              </a:rPr>
              <a:t>The chart shows the evolution of </a:t>
            </a:r>
            <a:r>
              <a:rPr lang="en-US" sz="14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transitional </a:t>
            </a:r>
            <a:r>
              <a:rPr lang="en-US" sz="1400" dirty="0">
                <a:latin typeface="Trade Gothic Next Heavy" panose="020B0903040303020004" pitchFamily="34" charset="0"/>
              </a:rPr>
              <a:t>aggregate leverage ratio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4036" grpId="0" build="allAtOnce"/>
      <p:bldP spid="44038" grpId="0"/>
      <p:bldP spid="134" grpId="0" animBg="1"/>
      <p:bldP spid="44041" grpId="0"/>
      <p:bldP spid="137" grpId="0" animBg="1"/>
      <p:bldP spid="3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98">
            <a:extLst>
              <a:ext uri="{FF2B5EF4-FFF2-40B4-BE49-F238E27FC236}">
                <a16:creationId xmlns:a16="http://schemas.microsoft.com/office/drawing/2014/main" id="{30928B6B-B116-75A0-FF47-91B6BD647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2628"/>
            <a:ext cx="12191999" cy="56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Main drivers </a:t>
            </a:r>
            <a:r>
              <a:rPr lang="en-US" altLang="es-MX" sz="2800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of the impact</a:t>
            </a: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 (1/2) </a:t>
            </a:r>
            <a:endParaRPr lang="en-US" altLang="es-MX" sz="2800" dirty="0">
              <a:solidFill>
                <a:srgbClr val="024654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10" name="Rectángulo 2">
            <a:extLst>
              <a:ext uri="{FF2B5EF4-FFF2-40B4-BE49-F238E27FC236}">
                <a16:creationId xmlns:a16="http://schemas.microsoft.com/office/drawing/2014/main" id="{0FEAD291-A050-99C9-8882-091A4B92AB03}"/>
              </a:ext>
            </a:extLst>
          </p:cNvPr>
          <p:cNvSpPr/>
          <p:nvPr/>
        </p:nvSpPr>
        <p:spPr>
          <a:xfrm>
            <a:off x="0" y="914400"/>
            <a:ext cx="12192000" cy="5943600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Up Arrow 1">
            <a:extLst>
              <a:ext uri="{FF2B5EF4-FFF2-40B4-BE49-F238E27FC236}">
                <a16:creationId xmlns:a16="http://schemas.microsoft.com/office/drawing/2014/main" id="{9593F15A-BBAB-41A9-7F54-03EAFAEC722A}"/>
              </a:ext>
            </a:extLst>
          </p:cNvPr>
          <p:cNvSpPr/>
          <p:nvPr/>
        </p:nvSpPr>
        <p:spPr>
          <a:xfrm>
            <a:off x="980281" y="1917704"/>
            <a:ext cx="2556669" cy="3748882"/>
          </a:xfrm>
          <a:prstGeom prst="upArrow">
            <a:avLst>
              <a:gd name="adj1" fmla="val 69872"/>
              <a:gd name="adj2" fmla="val 45564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endParaRPr lang="en-US" sz="900"/>
          </a:p>
        </p:txBody>
      </p:sp>
      <p:sp>
        <p:nvSpPr>
          <p:cNvPr id="15" name="Up Arrow 214">
            <a:extLst>
              <a:ext uri="{FF2B5EF4-FFF2-40B4-BE49-F238E27FC236}">
                <a16:creationId xmlns:a16="http://schemas.microsoft.com/office/drawing/2014/main" id="{AEB45654-DC64-9957-5675-F29EBC76BA12}"/>
              </a:ext>
            </a:extLst>
          </p:cNvPr>
          <p:cNvSpPr/>
          <p:nvPr/>
        </p:nvSpPr>
        <p:spPr>
          <a:xfrm>
            <a:off x="3540919" y="1917704"/>
            <a:ext cx="2556669" cy="3748882"/>
          </a:xfrm>
          <a:prstGeom prst="upArrow">
            <a:avLst>
              <a:gd name="adj1" fmla="val 69872"/>
              <a:gd name="adj2" fmla="val 45564"/>
            </a:avLst>
          </a:prstGeom>
          <a:solidFill>
            <a:srgbClr val="F93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endParaRPr lang="en-US" sz="900"/>
          </a:p>
        </p:txBody>
      </p:sp>
      <p:sp>
        <p:nvSpPr>
          <p:cNvPr id="16" name="Up Arrow 216">
            <a:extLst>
              <a:ext uri="{FF2B5EF4-FFF2-40B4-BE49-F238E27FC236}">
                <a16:creationId xmlns:a16="http://schemas.microsoft.com/office/drawing/2014/main" id="{57074F29-6CC7-8B9E-2673-A0AFC1A2CF82}"/>
              </a:ext>
            </a:extLst>
          </p:cNvPr>
          <p:cNvSpPr/>
          <p:nvPr/>
        </p:nvSpPr>
        <p:spPr>
          <a:xfrm>
            <a:off x="6090102" y="1917704"/>
            <a:ext cx="2556669" cy="3748882"/>
          </a:xfrm>
          <a:prstGeom prst="upArrow">
            <a:avLst>
              <a:gd name="adj1" fmla="val 69872"/>
              <a:gd name="adj2" fmla="val 45564"/>
            </a:avLst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endParaRPr lang="en-US" sz="900"/>
          </a:p>
        </p:txBody>
      </p:sp>
      <p:sp>
        <p:nvSpPr>
          <p:cNvPr id="17" name="Up Arrow 217">
            <a:extLst>
              <a:ext uri="{FF2B5EF4-FFF2-40B4-BE49-F238E27FC236}">
                <a16:creationId xmlns:a16="http://schemas.microsoft.com/office/drawing/2014/main" id="{F22AB93E-3574-53B3-234B-EB0364C82926}"/>
              </a:ext>
            </a:extLst>
          </p:cNvPr>
          <p:cNvSpPr/>
          <p:nvPr/>
        </p:nvSpPr>
        <p:spPr>
          <a:xfrm>
            <a:off x="8648926" y="1917704"/>
            <a:ext cx="2555875" cy="3748882"/>
          </a:xfrm>
          <a:prstGeom prst="upArrow">
            <a:avLst>
              <a:gd name="adj1" fmla="val 69872"/>
              <a:gd name="adj2" fmla="val 455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>
              <a:defRPr/>
            </a:pPr>
            <a:endParaRPr lang="en-US" sz="900"/>
          </a:p>
        </p:txBody>
      </p:sp>
      <p:sp>
        <p:nvSpPr>
          <p:cNvPr id="18" name="TextBox 219">
            <a:extLst>
              <a:ext uri="{FF2B5EF4-FFF2-40B4-BE49-F238E27FC236}">
                <a16:creationId xmlns:a16="http://schemas.microsoft.com/office/drawing/2014/main" id="{13CD10ED-4421-E448-7DD3-8BC97F292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946" y="3187933"/>
            <a:ext cx="179132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TOTAL REA</a:t>
            </a:r>
            <a:endParaRPr lang="en-US" altLang="es-MX" sz="2000" dirty="0">
              <a:solidFill>
                <a:srgbClr val="FFFFFF"/>
              </a:solidFill>
              <a:latin typeface="Trade Gothic Next Heavy" panose="020B09030403030200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 increases by about 12% as of end 2023, driving an impact on CET1 capital ratio of -121 bps.</a:t>
            </a:r>
          </a:p>
        </p:txBody>
      </p:sp>
      <p:sp>
        <p:nvSpPr>
          <p:cNvPr id="19" name="TextBox 219">
            <a:extLst>
              <a:ext uri="{FF2B5EF4-FFF2-40B4-BE49-F238E27FC236}">
                <a16:creationId xmlns:a16="http://schemas.microsoft.com/office/drawing/2014/main" id="{53C89D6B-3F24-D813-D480-408CC9857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1684" y="3187933"/>
            <a:ext cx="173513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CREDIT </a:t>
            </a:r>
          </a:p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RISK</a:t>
            </a: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has the highest impact: ‐€308bn, ‐423bps </a:t>
            </a:r>
          </a:p>
        </p:txBody>
      </p:sp>
      <p:sp>
        <p:nvSpPr>
          <p:cNvPr id="20" name="TextBox 219">
            <a:extLst>
              <a:ext uri="{FF2B5EF4-FFF2-40B4-BE49-F238E27FC236}">
                <a16:creationId xmlns:a16="http://schemas.microsoft.com/office/drawing/2014/main" id="{24425D2B-1D16-28DB-E79B-3B4C5C8E1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80" y="3187933"/>
            <a:ext cx="173513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MARKET</a:t>
            </a:r>
          </a:p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RISK</a:t>
            </a: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including OCI ‐€74bn, ‐102bps.</a:t>
            </a:r>
          </a:p>
        </p:txBody>
      </p:sp>
      <p:sp>
        <p:nvSpPr>
          <p:cNvPr id="21" name="TextBox 219">
            <a:extLst>
              <a:ext uri="{FF2B5EF4-FFF2-40B4-BE49-F238E27FC236}">
                <a16:creationId xmlns:a16="http://schemas.microsoft.com/office/drawing/2014/main" id="{5B63FBD6-B74F-16B7-A098-BE26539C5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6288" y="3064822"/>
            <a:ext cx="173513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OPERAT.</a:t>
            </a:r>
          </a:p>
          <a:p>
            <a:pPr algn="ctr"/>
            <a:r>
              <a:rPr lang="en-US" altLang="es-MX" sz="24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RISK</a:t>
            </a: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‐€49bn, </a:t>
            </a:r>
          </a:p>
          <a:p>
            <a:pPr algn="ctr"/>
            <a:r>
              <a:rPr lang="en-US" altLang="es-MX" sz="1600" dirty="0">
                <a:solidFill>
                  <a:srgbClr val="FFFFFF"/>
                </a:solidFill>
                <a:latin typeface="Trade Gothic Next Heavy" panose="020B0903040303020004" pitchFamily="34" charset="0"/>
                <a:cs typeface="Calibri Light" panose="020F0302020204030204" pitchFamily="34" charset="0"/>
              </a:rPr>
              <a:t>‐68bps, mostly conduct risk, ‐37bps..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6ABEBDC-2E2E-A7F3-895C-19C87B798980}"/>
              </a:ext>
            </a:extLst>
          </p:cNvPr>
          <p:cNvSpPr txBox="1"/>
          <p:nvPr/>
        </p:nvSpPr>
        <p:spPr>
          <a:xfrm>
            <a:off x="7368436" y="5910704"/>
            <a:ext cx="5110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*</a:t>
            </a:r>
            <a:r>
              <a:rPr lang="en-US" sz="16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Other drivers </a:t>
            </a:r>
            <a:r>
              <a:rPr lang="en-US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to the impact on banks’ capital are related to </a:t>
            </a:r>
            <a:r>
              <a:rPr lang="en-US" sz="16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non-interest income and expenses items </a:t>
            </a:r>
            <a:r>
              <a:rPr lang="en-US" sz="16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(NFCI, dividend income).</a:t>
            </a:r>
            <a:endParaRPr lang="it-IT" sz="1600" dirty="0">
              <a:solidFill>
                <a:schemeClr val="bg1"/>
              </a:solidFill>
              <a:latin typeface="Trade Gothic Next Heavy" panose="020B0903040303020004" pitchFamily="34" charset="0"/>
            </a:endParaRP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AF37AD3C-DDEC-617A-823B-85889A3BC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203" y="2413097"/>
            <a:ext cx="755307" cy="609158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3246E633-5D6F-09AB-D675-1A46A2DC5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840" y="2413097"/>
            <a:ext cx="663887" cy="609158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FB903350-7539-F6F2-5E5D-7EFDF1A2E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453" y="2318595"/>
            <a:ext cx="692941" cy="575494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7EB8A650-E139-A66A-25DD-EE00A7B61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367" y="2283945"/>
            <a:ext cx="588353" cy="61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5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D46E849-4383-45C7-BC7F-B862D08DED39}"/>
              </a:ext>
            </a:extLst>
          </p:cNvPr>
          <p:cNvSpPr/>
          <p:nvPr/>
        </p:nvSpPr>
        <p:spPr>
          <a:xfrm>
            <a:off x="0" y="947057"/>
            <a:ext cx="12192000" cy="5910943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198">
            <a:extLst>
              <a:ext uri="{FF2B5EF4-FFF2-40B4-BE49-F238E27FC236}">
                <a16:creationId xmlns:a16="http://schemas.microsoft.com/office/drawing/2014/main" id="{4DE0D8C6-E05A-4C5C-8E8D-8146C1A3C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2628"/>
            <a:ext cx="12191999" cy="56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Main drivers </a:t>
            </a:r>
            <a:r>
              <a:rPr lang="en-US" altLang="es-MX" sz="2800" dirty="0">
                <a:solidFill>
                  <a:srgbClr val="024654"/>
                </a:solidFill>
                <a:latin typeface="Trade Gothic Next Heavy" panose="020B0903040303020004" pitchFamily="34" charset="0"/>
              </a:rPr>
              <a:t>of the impact</a:t>
            </a:r>
            <a:r>
              <a:rPr lang="en-US" altLang="es-MX" sz="28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 (2/2) </a:t>
            </a:r>
            <a:endParaRPr lang="en-US" altLang="es-MX" sz="2800" dirty="0">
              <a:solidFill>
                <a:srgbClr val="024654"/>
              </a:solidFill>
              <a:latin typeface="Trade Gothic Next Heavy" panose="020B09030403030200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F4B5A77-360F-3A4E-BBC0-799FDB1DB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62" y="1883844"/>
            <a:ext cx="11322675" cy="375752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FAE266D-D6EC-8CDB-7B62-27945E5CA62D}"/>
              </a:ext>
            </a:extLst>
          </p:cNvPr>
          <p:cNvSpPr txBox="1"/>
          <p:nvPr/>
        </p:nvSpPr>
        <p:spPr>
          <a:xfrm>
            <a:off x="434662" y="5785467"/>
            <a:ext cx="3244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CET 1 </a:t>
            </a:r>
            <a:r>
              <a:rPr lang="it-IT" sz="1400" dirty="0" err="1">
                <a:solidFill>
                  <a:schemeClr val="bg1"/>
                </a:solidFill>
                <a:latin typeface="Trade Gothic Next Heavy" panose="020B0903040303020004" pitchFamily="34" charset="0"/>
              </a:rPr>
              <a:t>starting</a:t>
            </a:r>
            <a:r>
              <a:rPr lang="it-IT" sz="1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 point</a:t>
            </a:r>
          </a:p>
          <a:p>
            <a:pPr algn="ctr"/>
            <a:r>
              <a:rPr lang="it-IT" sz="1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(</a:t>
            </a:r>
            <a:r>
              <a:rPr lang="it-IT" sz="1400" dirty="0" err="1">
                <a:solidFill>
                  <a:schemeClr val="bg1"/>
                </a:solidFill>
                <a:latin typeface="Trade Gothic Next Heavy" panose="020B0903040303020004" pitchFamily="34" charset="0"/>
              </a:rPr>
              <a:t>Transitional</a:t>
            </a:r>
            <a:r>
              <a:rPr lang="it-IT" sz="1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 and </a:t>
            </a:r>
            <a:r>
              <a:rPr lang="it-IT" sz="1400" dirty="0" err="1">
                <a:solidFill>
                  <a:schemeClr val="bg1"/>
                </a:solidFill>
                <a:latin typeface="Trade Gothic Next Heavy" panose="020B0903040303020004" pitchFamily="34" charset="0"/>
              </a:rPr>
              <a:t>Fully-Loaded</a:t>
            </a:r>
            <a:r>
              <a:rPr lang="it-IT" sz="1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)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073840-530C-42FF-4C6D-87CD17FD2B4F}"/>
              </a:ext>
            </a:extLst>
          </p:cNvPr>
          <p:cNvSpPr txBox="1"/>
          <p:nvPr/>
        </p:nvSpPr>
        <p:spPr>
          <a:xfrm>
            <a:off x="8911229" y="5785467"/>
            <a:ext cx="3280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CET1 </a:t>
            </a:r>
            <a:r>
              <a:rPr lang="it-IT" sz="1400" dirty="0" err="1">
                <a:solidFill>
                  <a:schemeClr val="bg1"/>
                </a:solidFill>
                <a:latin typeface="Trade Gothic Next Heavy" panose="020B0903040303020004" pitchFamily="34" charset="0"/>
              </a:rPr>
              <a:t>considering</a:t>
            </a:r>
            <a:r>
              <a:rPr lang="it-IT" sz="1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 the </a:t>
            </a:r>
            <a:r>
              <a:rPr lang="it-IT" sz="1400" dirty="0" err="1">
                <a:solidFill>
                  <a:srgbClr val="FF7300"/>
                </a:solidFill>
                <a:latin typeface="Trade Gothic Next Heavy" panose="020B0903040303020004" pitchFamily="34" charset="0"/>
              </a:rPr>
              <a:t>adverse</a:t>
            </a:r>
            <a:r>
              <a:rPr lang="it-IT" sz="1400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 scenario</a:t>
            </a:r>
          </a:p>
          <a:p>
            <a:pPr algn="ctr"/>
            <a:r>
              <a:rPr lang="it-IT" sz="1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(</a:t>
            </a:r>
            <a:r>
              <a:rPr lang="it-IT" sz="1400" dirty="0" err="1">
                <a:solidFill>
                  <a:schemeClr val="bg1"/>
                </a:solidFill>
                <a:latin typeface="Trade Gothic Next Heavy" panose="020B0903040303020004" pitchFamily="34" charset="0"/>
              </a:rPr>
              <a:t>Transitional</a:t>
            </a:r>
            <a:r>
              <a:rPr lang="it-IT" sz="1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 and </a:t>
            </a:r>
            <a:r>
              <a:rPr lang="it-IT" sz="1400" dirty="0" err="1">
                <a:solidFill>
                  <a:schemeClr val="bg1"/>
                </a:solidFill>
                <a:latin typeface="Trade Gothic Next Heavy" panose="020B0903040303020004" pitchFamily="34" charset="0"/>
              </a:rPr>
              <a:t>Fully-Loaded</a:t>
            </a:r>
            <a:r>
              <a:rPr lang="it-IT" sz="1400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32402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xmlns:p14="http://schemas.microsoft.com/office/powerpoint/2010/main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6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, schermata, Parallelo, numero&#10;&#10;Descrizione generata automaticamente">
            <a:extLst>
              <a:ext uri="{FF2B5EF4-FFF2-40B4-BE49-F238E27FC236}">
                <a16:creationId xmlns:a16="http://schemas.microsoft.com/office/drawing/2014/main" id="{33C5C55A-E713-B42B-FA42-62DEE6AB04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795" y="2974987"/>
            <a:ext cx="5715741" cy="33099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ángulo 3">
            <a:extLst>
              <a:ext uri="{FF2B5EF4-FFF2-40B4-BE49-F238E27FC236}">
                <a16:creationId xmlns:a16="http://schemas.microsoft.com/office/drawing/2014/main" id="{4A667F4D-D472-90B7-905A-C77597C2F29C}"/>
              </a:ext>
            </a:extLst>
          </p:cNvPr>
          <p:cNvSpPr/>
          <p:nvPr/>
        </p:nvSpPr>
        <p:spPr>
          <a:xfrm>
            <a:off x="-15299" y="-21307"/>
            <a:ext cx="12207299" cy="2532495"/>
          </a:xfrm>
          <a:prstGeom prst="rect">
            <a:avLst/>
          </a:prstGeom>
          <a:gradFill>
            <a:gsLst>
              <a:gs pos="0">
                <a:srgbClr val="00142A"/>
              </a:gs>
              <a:gs pos="52000">
                <a:srgbClr val="023E4D"/>
              </a:gs>
              <a:gs pos="100000">
                <a:srgbClr val="024654"/>
              </a:gs>
            </a:gsLst>
            <a:lin ang="5400000" scaled="1"/>
          </a:gra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s-MX" sz="2800" b="0" i="0" u="none" strike="noStrike" kern="1200" cap="none" spc="0" normalizeH="0" baseline="0" noProof="0" dirty="0">
              <a:ln>
                <a:noFill/>
              </a:ln>
              <a:solidFill>
                <a:srgbClr val="FF7300"/>
              </a:solidFill>
              <a:effectLst/>
              <a:uLnTx/>
              <a:uFillTx/>
              <a:latin typeface="Trade Gothic Next Heavy" panose="020B0903040303020004" pitchFamily="34" charset="0"/>
              <a:ea typeface="+mn-ea"/>
              <a:cs typeface="+mn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DA394BF-53B0-F4DF-A1A5-3A856385C92A}"/>
              </a:ext>
            </a:extLst>
          </p:cNvPr>
          <p:cNvSpPr txBox="1"/>
          <p:nvPr/>
        </p:nvSpPr>
        <p:spPr>
          <a:xfrm>
            <a:off x="-15299" y="6284967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 err="1">
                <a:latin typeface="Trade Gothic Next Heavy" panose="020B0903040303020004" pitchFamily="34" charset="0"/>
              </a:rPr>
              <a:t>Composition</a:t>
            </a:r>
            <a:r>
              <a:rPr lang="it-IT" sz="1400" b="1" dirty="0">
                <a:latin typeface="Trade Gothic Next Heavy" panose="020B0903040303020004" pitchFamily="34" charset="0"/>
              </a:rPr>
              <a:t> of </a:t>
            </a:r>
            <a:r>
              <a:rPr lang="it-IT" sz="1400" b="1" dirty="0" err="1">
                <a:latin typeface="Trade Gothic Next Heavy" panose="020B0903040303020004" pitchFamily="34" charset="0"/>
              </a:rPr>
              <a:t>exposures</a:t>
            </a:r>
            <a:r>
              <a:rPr lang="it-IT" sz="1400" b="1" dirty="0">
                <a:latin typeface="Trade Gothic Next Heavy" panose="020B0903040303020004" pitchFamily="34" charset="0"/>
              </a:rPr>
              <a:t> under moratoria (1) and under PGS (2)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42F0828-0FBD-BA42-5C74-707B6B9570FC}"/>
              </a:ext>
            </a:extLst>
          </p:cNvPr>
          <p:cNvSpPr txBox="1"/>
          <p:nvPr/>
        </p:nvSpPr>
        <p:spPr>
          <a:xfrm>
            <a:off x="5736504" y="272548"/>
            <a:ext cx="62615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73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The percentage of bank exposures in the sample that were subject to moratoria at the end of 2020 was 4.2%; 1.4% of these exposures had not expired. </a:t>
            </a:r>
          </a:p>
          <a:p>
            <a:pPr marL="285750" indent="-285750">
              <a:buClr>
                <a:srgbClr val="FF7300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Trade Gothic Next Heavy" panose="020B0903040303020004" pitchFamily="34" charset="0"/>
            </a:endParaRPr>
          </a:p>
          <a:p>
            <a:pPr marL="285750" indent="-285750">
              <a:buClr>
                <a:srgbClr val="FF73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rade Gothic Next Heavy" panose="020B0903040303020004" pitchFamily="34" charset="0"/>
              </a:rPr>
              <a:t>As PGS were primarily provided for recently originated loans, the overall percentage of exposures under the PGS is substantially lower (1.6% of total exposures).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013CA12-130B-FB1D-0B75-6C3AF8C2ACF0}"/>
              </a:ext>
            </a:extLst>
          </p:cNvPr>
          <p:cNvSpPr txBox="1"/>
          <p:nvPr/>
        </p:nvSpPr>
        <p:spPr>
          <a:xfrm>
            <a:off x="9793" y="3883013"/>
            <a:ext cx="32696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73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rade Gothic Next Heavy" panose="020B0903040303020004" pitchFamily="34" charset="0"/>
              </a:rPr>
              <a:t>Over the stress test horizon, exposures under </a:t>
            </a:r>
            <a:r>
              <a:rPr lang="en-US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moratoria</a:t>
            </a:r>
            <a:r>
              <a:rPr lang="en-US" dirty="0">
                <a:latin typeface="Trade Gothic Next Heavy" panose="020B0903040303020004" pitchFamily="34" charset="0"/>
              </a:rPr>
              <a:t> classified in stage 3 increased from 3.1% at the end of 2020 to 13.4% in 2023. 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81C6AB7-FC39-0BE1-27CE-08F56CDF8DAE}"/>
              </a:ext>
            </a:extLst>
          </p:cNvPr>
          <p:cNvSpPr txBox="1"/>
          <p:nvPr/>
        </p:nvSpPr>
        <p:spPr>
          <a:xfrm>
            <a:off x="8953871" y="3871708"/>
            <a:ext cx="32577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73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rade Gothic Next Heavy" panose="020B0903040303020004" pitchFamily="34" charset="0"/>
              </a:rPr>
              <a:t>For exposures under </a:t>
            </a:r>
            <a:r>
              <a:rPr lang="en-US" dirty="0">
                <a:solidFill>
                  <a:srgbClr val="FF7300"/>
                </a:solidFill>
                <a:latin typeface="Trade Gothic Next Heavy" panose="020B0903040303020004" pitchFamily="34" charset="0"/>
              </a:rPr>
              <a:t>PGS</a:t>
            </a:r>
            <a:r>
              <a:rPr lang="en-US" dirty="0">
                <a:latin typeface="Trade Gothic Next Heavy" panose="020B0903040303020004" pitchFamily="34" charset="0"/>
              </a:rPr>
              <a:t>, the stage 3 ratio increased from 1.1% in 2020 to 6.8% in 2023 </a:t>
            </a:r>
            <a:endParaRPr lang="it-IT" dirty="0">
              <a:latin typeface="Trade Gothic Next Heavy" panose="020B09030403030200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89FDAB5-6AA6-540F-214A-9A0F4F835692}"/>
              </a:ext>
            </a:extLst>
          </p:cNvPr>
          <p:cNvSpPr txBox="1"/>
          <p:nvPr/>
        </p:nvSpPr>
        <p:spPr>
          <a:xfrm>
            <a:off x="1122941" y="678846"/>
            <a:ext cx="3948545" cy="1083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s-MX" sz="2800" b="0" i="0" u="none" strike="noStrike" kern="1200" cap="none" spc="0" normalizeH="0" baseline="0" noProof="0" dirty="0">
                <a:ln>
                  <a:noFill/>
                </a:ln>
                <a:solidFill>
                  <a:srgbClr val="FF7300"/>
                </a:solidFill>
                <a:effectLst/>
                <a:uLnTx/>
                <a:uFillTx/>
                <a:latin typeface="Trade Gothic Next Heavy" panose="020B0903040303020004" pitchFamily="34" charset="0"/>
              </a:rPr>
              <a:t>Special Focus on Covid-19 </a:t>
            </a:r>
          </a:p>
        </p:txBody>
      </p:sp>
    </p:spTree>
    <p:extLst>
      <p:ext uri="{BB962C8B-B14F-4D97-AF65-F5344CB8AC3E}">
        <p14:creationId xmlns:p14="http://schemas.microsoft.com/office/powerpoint/2010/main" val="403775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2" grpId="0"/>
      <p:bldP spid="4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BA theme pp4_3">
  <a:themeElements>
    <a:clrScheme name="EBA theme 2">
      <a:dk1>
        <a:srgbClr val="000000"/>
      </a:dk1>
      <a:lt1>
        <a:sysClr val="window" lastClr="FFFFFF"/>
      </a:lt1>
      <a:dk2>
        <a:srgbClr val="2F5773"/>
      </a:dk2>
      <a:lt2>
        <a:srgbClr val="E98E31"/>
      </a:lt2>
      <a:accent1>
        <a:srgbClr val="2F5773"/>
      </a:accent1>
      <a:accent2>
        <a:srgbClr val="EA933B"/>
      </a:accent2>
      <a:accent3>
        <a:srgbClr val="D44D2A"/>
      </a:accent3>
      <a:accent4>
        <a:srgbClr val="49AB74"/>
      </a:accent4>
      <a:accent5>
        <a:srgbClr val="52666E"/>
      </a:accent5>
      <a:accent6>
        <a:srgbClr val="163A5A"/>
      </a:accent6>
      <a:hlink>
        <a:srgbClr val="2F577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5708</TotalTime>
  <Words>1360</Words>
  <Application>Microsoft Macintosh PowerPoint</Application>
  <PresentationFormat>Widescreen</PresentationFormat>
  <Paragraphs>170</Paragraphs>
  <Slides>17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12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17</vt:i4>
      </vt:variant>
    </vt:vector>
  </HeadingPairs>
  <TitlesOfParts>
    <vt:vector size="32" baseType="lpstr">
      <vt:lpstr>Abril Fatface</vt:lpstr>
      <vt:lpstr>Arial</vt:lpstr>
      <vt:lpstr>Arial Black</vt:lpstr>
      <vt:lpstr>Calibri</vt:lpstr>
      <vt:lpstr>Calibri Light</vt:lpstr>
      <vt:lpstr>Lato Light</vt:lpstr>
      <vt:lpstr>Lato Regular</vt:lpstr>
      <vt:lpstr>Montserrat</vt:lpstr>
      <vt:lpstr>PT Serif</vt:lpstr>
      <vt:lpstr>Trade Gothic Next Heavy</vt:lpstr>
      <vt:lpstr>Wingdings</vt:lpstr>
      <vt:lpstr>Wingdings 3</vt:lpstr>
      <vt:lpstr>Office Theme</vt:lpstr>
      <vt:lpstr>Office Theme</vt:lpstr>
      <vt:lpstr>EBA theme pp4_3</vt:lpstr>
      <vt:lpstr>Presentazione standard di PowerPoint</vt:lpstr>
      <vt:lpstr>Team Presentation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Jolie Nayibe Serrano</dc:creator>
  <cp:lastModifiedBy>Giovanni Benito Tozzi</cp:lastModifiedBy>
  <cp:revision>269</cp:revision>
  <dcterms:created xsi:type="dcterms:W3CDTF">2020-04-22T15:34:04Z</dcterms:created>
  <dcterms:modified xsi:type="dcterms:W3CDTF">2023-12-13T18:28:07Z</dcterms:modified>
</cp:coreProperties>
</file>